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65" r:id="rId3"/>
    <p:sldId id="257" r:id="rId4"/>
    <p:sldId id="272" r:id="rId5"/>
    <p:sldId id="268" r:id="rId6"/>
    <p:sldId id="269" r:id="rId7"/>
    <p:sldId id="270" r:id="rId8"/>
    <p:sldId id="271" r:id="rId9"/>
    <p:sldId id="267" r:id="rId10"/>
  </p:sldIdLst>
  <p:sldSz cx="9144000" cy="6858000" type="screen4x3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728" autoAdjust="0"/>
  </p:normalViewPr>
  <p:slideViewPr>
    <p:cSldViewPr snapToGrid="0" snapToObjects="1">
      <p:cViewPr varScale="1">
        <p:scale>
          <a:sx n="94" d="100"/>
          <a:sy n="94" d="100"/>
        </p:scale>
        <p:origin x="1275" y="27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BB6334-0627-46D3-00DF-055112AA36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2A895A-91BD-F24D-2E4E-707B91B534D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03948-AA1C-4765-A5BA-7E64F304F3F0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1FD8BA-B4A8-4B1A-739D-90073B879B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134EF-EA75-DB47-3DDA-C518AB9824F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055106-DC81-4200-AF4B-C5B78BCB0D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79726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C642659E-EE92-4651-AA41-CDB9F9E5F748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8275" y="1173163"/>
            <a:ext cx="4225925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600E7104-C665-418B-BECD-5F6BB8C7A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63309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072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None/>
            </a:pPr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26967032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965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733CB-4721-0DF8-26EE-F9B952B41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E2029-1F1C-47D2-8D41-F5A1ACE51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5D6316-ABE7-8FBA-956C-94830298D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224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179C7-4693-83F7-BB87-F89F8BDC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81179C-57A3-E8F5-B3A0-5DF9FD317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F093B0-81FD-C4A4-F29A-7AAD9EA563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561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C58FF-6E89-E470-BFE2-E5B5F96B6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852450-A1BA-0A0F-26E9-43DD666C3B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89B288-785B-65A9-2CFC-51F2B3E06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9498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39017-C74A-CDAB-E7FE-5DCCB1D72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F9DD8-97DE-231A-A0D2-D42680922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6C368E-DA4F-9523-BA6B-11755C99E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359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0C42E-340F-5E8D-AB7D-8D6F4D4AB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B708E-DBF0-ED25-6A44-97F561962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C458F-4951-7A57-67FB-412672D43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001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F018D-719C-4596-B324-AEA4D0CC7520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5357CA-A1EB-4E52-83A2-042AE293F66E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A5D-F704-4730-A958-80862EFA23C5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D4AD-FA8B-403F-B11F-CB821DCF2366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EC295-3330-4894-9239-D3247D7C0C0D}" type="datetime1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18B9-79BA-4540-A194-06620BECCE06}" type="datetime1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A98C9-6B04-43A5-9D0E-EA194368A4CE}" type="datetime1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F8A9D-F393-41A8-BB4C-1352AAAE6C55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24A41-F480-4C00-959F-557DF9B1E39C}" type="datetime1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D8A75-A2BD-4BFD-BBF3-B74750D63075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F2021-71F5-43AE-B5D4-69C7F0D5E997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32B79-B127-48A5-9E0D-685C2BA2303F}" type="datetime1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alesforce.com/news/wp-content/uploads/sites/3/2025/04/AD_4nXewl6Hpd6WI6vv8m6FVvEPtfCRrBtt4W9Vh-uz9htddkmyNRkxdSdB8pdWBcKANld_6zca4OTAn77EUV2CmdUGCZxSFhHDS8NFEL4WOfVnaeQCiP5rWzB9KlloXzGK_YlFirL2v.png" TargetMode="Externa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Executive Summary: Strategic Alignment to Business Goals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B919A4F1-69F4-137B-127A-6E32CBEA5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897A50-7AFC-8F02-66CB-0DEC845CE40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1943096" y="1725132"/>
            <a:ext cx="5257800" cy="50963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F2B137-2AA9-6F9D-EBDE-B58D6CAABCB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6031631" y="0"/>
            <a:ext cx="3112369" cy="564175"/>
          </a:xfrm>
          <a:prstGeom prst="rect">
            <a:avLst/>
          </a:prstGeom>
        </p:spPr>
      </p:pic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847F7CE-08CC-1970-F934-148BCDCD756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7630" y="841468"/>
            <a:ext cx="3922646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/>
              <a:buNone/>
            </a:pPr>
            <a:r>
              <a:rPr lang="en-US" sz="2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Intent</a:t>
            </a:r>
          </a:p>
          <a:p>
            <a:pPr marL="0" indent="0" algn="ctr">
              <a:lnSpc>
                <a:spcPct val="90000"/>
              </a:lnSpc>
              <a:buFont typeface="Arial"/>
              <a:buNone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Build a production-grade IT service engine for productivity platforms, from system uptime to business value. </a:t>
            </a:r>
          </a:p>
          <a:p>
            <a:pPr marL="0" indent="0">
              <a:lnSpc>
                <a:spcPct val="90000"/>
              </a:lnSpc>
              <a:buFont typeface="Arial"/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Font typeface="Arial"/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2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Productivity Platforms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6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 strategic enabler that maximizes business agility, safeguards stakeholder trust, and accelerates innovation.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E1227D41-4CE1-EB75-239D-0B0A36175B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5135299" y="1354345"/>
            <a:ext cx="3578706" cy="5837949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Alignment,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Forward-Looking Recommendations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Align platform support to business objectives and key results (OKRs) by reducing system downtime, optimizing ecosystem reliability, and accelerating product launch cycles.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Key Objectives:</a:t>
            </a:r>
          </a:p>
          <a:p>
            <a:pPr>
              <a:lnSpc>
                <a:spcPct val="9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Enable and optimize proactive monitoring, predictive analytics, and intelligent process automation.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Boost Collaboration Across Teams through shared incident management frameworks and cross-functional communication strategies.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Ensure Customer Satisfaction through a customer-focused incident management strategy that minimizes disruptions and maintains transparency.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B6204-BBBB-8A47-35D4-692F2E67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87FBB49-D555-EF67-98EA-853829F1F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C2184A7-14FB-78C3-650E-E711D0BB1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D1A2CF1-2E34-0F50-A29B-5D8DB160A4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822E44C-45A8-DE0D-25B1-68312CB5B5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Business Objectives Alignment / Core Pillars of Excellence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878710C-D902-0000-A537-49120993E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776FD3-7B7F-0C72-7B03-6ECDE7EAC72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1943096" y="1725132"/>
            <a:ext cx="5257800" cy="50963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84DD66-BEC1-0E61-5255-0CBB269CD7B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6031631" y="0"/>
            <a:ext cx="3112369" cy="564175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D3970D7-A429-86DF-DFE5-3C8E5FAB0D2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67630" y="1020370"/>
            <a:ext cx="3922646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fontAlgn="auto">
              <a:lnSpc>
                <a:spcPct val="90000"/>
              </a:lnSpc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Operational/Tactical View</a:t>
            </a:r>
          </a:p>
          <a:p>
            <a:pPr marR="0" lvl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4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“The Run”. Minimize Production Downtime: Automated health checks, Real-time alerting, fast escalation paths, and expeditious postmortem action item resolution. Act with Urgency. </a:t>
            </a: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Enhance System Stability: Assess the maturity of Proactive root cause analysis capabilities and elimination of recurring incidents. Platforms treated like production systems, not admin tools.</a:t>
            </a: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Drive Cross-Functional Collaboration: Break down silos through shared SLOs, incident runbooks, and integrated workflows (Foster a One Team mentality).  </a:t>
            </a: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Process Optimization: Toolchain automation (CI/CD,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IaC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FMEA), minimizing toil, improving MTTR. Scale through workflow automation and AI, not headcount. </a:t>
            </a: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Stakeholder Confidence: Real-time updates, defined escalation, transparent KPIs, and reporting. Improved employee productivity at scale.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31E3C5A-ECCD-2A32-F19F-5FE9670C78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5135299" y="1354345"/>
            <a:ext cx="3578706" cy="5837949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Alignment/Forward-Looking Recommendations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50" u="sn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 Reliability (Foundational Layer)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05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High availability architecture with auto-failover, provisioning, and scaling on demand, and decoupled microservices. 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05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SRE-driven support: Embed SLIs, SLOs, and error budgets into system design and deployment.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050" b="1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Single Pane of Glass</a:t>
            </a:r>
            <a:r>
              <a:rPr lang="en-US" sz="105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observability combining: Monitoring, integrating logs, traces, and alerts.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05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Security and productivity coexist. </a:t>
            </a:r>
          </a:p>
          <a:p>
            <a:pPr marL="0" indent="0">
              <a:lnSpc>
                <a:spcPct val="90000"/>
              </a:lnSpc>
              <a:buNone/>
            </a:pP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50" u="sn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Agile &amp; Resilient Support Operations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05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Tiered Support Model (P1–</a:t>
            </a:r>
            <a:r>
              <a:rPr lang="en-US" sz="1050" dirty="0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Px</a:t>
            </a:r>
            <a:r>
              <a:rPr lang="en-US" sz="105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with embedded engineering rotations for P1/P2 outage escalation.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05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Incident simulation and chaos engineering for testing system resilience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05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CI/CD pipeline resilience with release gating (checkpoints) and canary monitoring (test group) for faster recovery.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50" u="sng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Intelligent Automation &amp; AIOps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05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Self-healing infrastructure with auto-remediation triggered by monitored thresholds.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05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Predictive alerting using machine learning models to forecast incidents. </a:t>
            </a:r>
          </a:p>
        </p:txBody>
      </p:sp>
    </p:spTree>
    <p:extLst>
      <p:ext uri="{BB962C8B-B14F-4D97-AF65-F5344CB8AC3E}">
        <p14:creationId xmlns:p14="http://schemas.microsoft.com/office/powerpoint/2010/main" val="3069847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6557C04-1DF4-A14C-C412-40B6588A8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73" y="783977"/>
            <a:ext cx="7581645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Incident and Problem Management “The Run”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C4AA6FD-D9D4-07FE-0F64-E2C38AA6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7662C4-AC86-6AC3-AF27-B59708F504A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1943100" y="1725132"/>
            <a:ext cx="5257800" cy="50963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A14D1F-E66C-4ACC-D275-E47A8571563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6031631" y="0"/>
            <a:ext cx="3112369" cy="564175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133101B-E89D-B1E2-8E06-D6F83935E2AB}"/>
              </a:ext>
            </a:extLst>
          </p:cNvPr>
          <p:cNvSpPr txBox="1"/>
          <p:nvPr/>
        </p:nvSpPr>
        <p:spPr>
          <a:xfrm>
            <a:off x="867630" y="1179396"/>
            <a:ext cx="3922646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Operational/Tactical View</a:t>
            </a: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clear platform ownership model per tool, and Vendor escalation playbooks for providers (Google, Atlassian, Slack)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Incident &amp; Problem Management:</a:t>
            </a: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Blameless postmortems, automated alerting, platform-specific runbook standardization. </a:t>
            </a: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Blameless but intolerant of repeat failures, RCA exists to prevent recurrence, not assign fault.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Reporting &amp; Analytics: Dashboards on incident trends, MTTA, MTTR, repeat incidents, productivity loss metrics (min. / hrs.) with associated financial impact. </a:t>
            </a: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Change management practices integrated into incident management processes to reduce failure risks.</a:t>
            </a: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Reduce operational risk: Improve uptime, SRE discipline, standardized ITSM, DR/BCP, proactive monitoring. 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21B1CAB0-6EED-DD7B-2751-317C623C70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5299" y="1354345"/>
            <a:ext cx="3578706" cy="5837949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Alignment/Forward-Looking Recommendations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Crisis Management &amp; Communication Playbook: A framework to maintain clear communication across teams and stakeholders. 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Incident Management for Global Operations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Scalable incident management processes are necessary for diverse time zones and languages. 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Region-specific escalation paths for incidents.</a:t>
            </a:r>
            <a:endParaRPr lang="en-US" sz="11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24/7 support coordination across global teams.</a:t>
            </a:r>
            <a:endParaRPr lang="en-US" sz="11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Localized communication strategies to address language and cultural differences.</a:t>
            </a: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11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Business-Aware Incident Management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Every incident is evaluated by impact type (production, CRM, engineering, sales, brand, reputation).</a:t>
            </a:r>
          </a:p>
          <a:p>
            <a:pPr marL="0" indent="0">
              <a:lnSpc>
                <a:spcPct val="90000"/>
              </a:lnSpc>
              <a:buNone/>
              <a:defRPr/>
            </a:pPr>
            <a:endParaRPr kumimoji="0" lang="en-US" sz="11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Stakeholder-Centric Communication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Role-based alerts with custom notifications based on incident category.</a:t>
            </a:r>
          </a:p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Auto-generated incident summaries and impact-specific dashboards.</a:t>
            </a:r>
          </a:p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Virtual war rooms are triggered automatically for action tracking and escalation tagging.</a:t>
            </a:r>
            <a:endParaRPr lang="en-US" sz="10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43DC93-C387-02B1-DDAC-C1BD0E180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F60B79-C453-CACB-F1B8-847AEF01A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C63073-A8F8-809E-8943-6FD998909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AC14AB-D16E-B2D9-E505-B92B16159D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FB2DCA4-00D2-1191-E79C-612548716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173" y="783977"/>
            <a:ext cx="7581645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Financial Governance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2390E3B-EBB9-AE97-42E8-373CF4D51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F4DAD5-B4F7-EA47-5743-D2E092578DE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1943100" y="1725132"/>
            <a:ext cx="5257800" cy="509637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02B10E7-BC1D-11BC-812E-93B16842C9C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6031631" y="0"/>
            <a:ext cx="3112369" cy="564175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341A644-164B-B7C0-D4BE-A4387BBFA070}"/>
              </a:ext>
            </a:extLst>
          </p:cNvPr>
          <p:cNvSpPr txBox="1"/>
          <p:nvPr/>
        </p:nvSpPr>
        <p:spPr>
          <a:xfrm>
            <a:off x="867630" y="1265532"/>
            <a:ext cx="3922646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Operational/Tactical View</a:t>
            </a: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Build transparent, predictable IT cost structures across cloud, on-prem, and managed services.</a:t>
            </a: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ynchronize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with Finance planning cycles for IT budget forecasts to reduce unplanned capital spikes and avoid reactive spending. </a:t>
            </a: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Ensure that future-state architectures and modernization decisions are cost-effective, standardized, and risk-aware. </a:t>
            </a: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oordinate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closely with Finance on technology refresh cycles, vendor consolidation opportunities, and TCO-based decision making.</a:t>
            </a: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Identify the greatest financial risk: legacy tech debt, managed services, cybersecurity exposure, or variability in standards. </a:t>
            </a: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Locate the most critical points of failure or highest financial exposure if IT productivity services experience degradation or downtime. </a:t>
            </a: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A0CA6FF-503D-49A2-D5CC-E6000B538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5298" y="1354345"/>
            <a:ext cx="4008686" cy="5837949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Alignment/Forward-Looking Recommendations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lvl="0" indent="0">
              <a:lnSpc>
                <a:spcPct val="90000"/>
              </a:lnSpc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Predictable cost structure: Build roadmaps, standardize refresh cycles, govern cloud spend, and implement cost-to-value models</a:t>
            </a: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. Help Finance understand where spend drives uptime, and customer impact.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FinOps for Global Operations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lvl="0" indent="-22860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Cost steward (license optimization and renewal strategy).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Usage vs cost (License tiers and Feature mixes).</a:t>
            </a:r>
          </a:p>
          <a:p>
            <a:pPr marL="628650" lvl="1" indent="-22860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7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License Optimization: Daily/weekly usage snapshots for utilization reporting (Inactive accounts auto-flagged)</a:t>
            </a:r>
          </a:p>
          <a:p>
            <a:pPr marL="400050" lvl="1" indent="0">
              <a:lnSpc>
                <a:spcPct val="90000"/>
              </a:lnSpc>
              <a:buNone/>
              <a:defRPr/>
            </a:pPr>
            <a:endParaRPr lang="en-US" sz="7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Immediate reclamation policies for:</a:t>
            </a:r>
          </a:p>
          <a:p>
            <a:pPr marL="628650" lvl="1" indent="-22860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7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Departed employees</a:t>
            </a:r>
          </a:p>
          <a:p>
            <a:pPr marL="628650" lvl="1" indent="-22860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7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Inactive users (Regular access and configuration audits) </a:t>
            </a:r>
          </a:p>
          <a:p>
            <a:pPr marL="628650" lvl="1" indent="-22860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7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Grace period → notify manager → reclaim </a:t>
            </a:r>
          </a:p>
          <a:p>
            <a:pPr marL="400050" lvl="1" indent="0">
              <a:lnSpc>
                <a:spcPct val="90000"/>
              </a:lnSpc>
              <a:buNone/>
              <a:defRPr/>
            </a:pPr>
            <a:endParaRPr lang="en-US" sz="7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Forecast headcount-driven demand in partnership with HR/Finance.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Establish platform-level cost dashboards.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Measure vendor support quality and responsiveness.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sz="11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Vendor consolidation where overlap exists (Function Rationalization).</a:t>
            </a:r>
          </a:p>
          <a:p>
            <a:pPr marL="628650" lvl="1" indent="-228600"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7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Target the Productivity Platform functions that carry the highest financial exposure. 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11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Business-Aware Incident Management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Every incident is evaluated by quantifiable financial impact (e.g., lost productivity min/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hrs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210145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1B59C6-E121-013F-2EB8-C78A1A82E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A9B1B6-0617-A2D9-7C7F-212831511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F37FBE-D43D-B643-ABB2-223EACC0A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77AF50-FDF7-792F-81DB-8CD714134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404F73E8-D534-1671-E528-A3AFCB6B3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788161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Process Improvement &amp; Automation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5C08D6-58CB-D806-4006-76E48EEF1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502672-CE59-A6ED-E8F4-EFBA3F64FEE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1943096" y="1725132"/>
            <a:ext cx="5257800" cy="50963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7B78851-12DB-A2C5-873D-84655722F82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6031631" y="0"/>
            <a:ext cx="3112369" cy="564175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05117BBC-A68F-F3C2-0A44-68465B50254F}"/>
              </a:ext>
            </a:extLst>
          </p:cNvPr>
          <p:cNvSpPr txBox="1"/>
          <p:nvPr/>
        </p:nvSpPr>
        <p:spPr>
          <a:xfrm>
            <a:off x="880503" y="1303545"/>
            <a:ext cx="3922646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Operational/Tactical View</a:t>
            </a: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Process Improvement: Use of FMEA (Severity × Occurrence × Detection = RPN), single point of failure analysis. Upstream/downstream dependencies. </a:t>
            </a:r>
          </a:p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Standardize ITSM processes across incident, problem, and change using an enterprise platform (Atlassian Suite). </a:t>
            </a:r>
          </a:p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Rollback procedures: Predefined steps for quick reversion if necessary.</a:t>
            </a:r>
          </a:p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Ensure that all vital production environments have the following characteristics and procedures: high availability (HA) with auto failover, provisioning and scaling on demand, backup and restore (BUR), disaster recovery, business resumption, and manual operating procedures (MOPs) when possible. </a:t>
            </a:r>
          </a:p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Focus 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operational, process, and productivity bottlenecks where IT is expected to deliver immediate value or stabilization. Eliminate manual process toil and error through automation (access requests, workspace creation, project/Jira provisioning) </a:t>
            </a:r>
          </a:p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Scalable support and provisioning workflows aligned to headcount growth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2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DC02918-3DF1-CD09-2016-A334862C4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5299" y="1838471"/>
            <a:ext cx="3578706" cy="5837949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Alignment/Forward-Looking Recommendations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4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RPN + BIA scoring model to prioritize risk remediation based on impact.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Post-change reviews: Evaluating the impact of changes on incident outcomes and identifying improvements. 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Maturity Modeling: Add capability and resilience maturity scale. </a:t>
            </a:r>
          </a:p>
          <a:p>
            <a:pPr lvl="1">
              <a:lnSpc>
                <a:spcPct val="90000"/>
              </a:lnSpc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Salesforce: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  <a:hlinkClick r:id="rId5"/>
              </a:rPr>
              <a:t>Agentforce Example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Chaos Testing Strategy: Include failure injection &amp; resilience planning framework.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Evaluate emerging tools (AIOps, ML for anomaly detection, etc.) Shift from reactive to predictive operations.</a:t>
            </a:r>
          </a:p>
          <a:p>
            <a:pPr lvl="1">
              <a:lnSpc>
                <a:spcPct val="90000"/>
              </a:lnSpc>
              <a:buFont typeface="+mj-lt"/>
              <a:buAutoNum type="arabicPeriod"/>
            </a:pPr>
            <a:r>
              <a:rPr lang="en-US" sz="8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Trend-based incident detection</a:t>
            </a:r>
          </a:p>
          <a:p>
            <a:pPr lvl="1">
              <a:lnSpc>
                <a:spcPct val="90000"/>
              </a:lnSpc>
              <a:buFont typeface="+mj-lt"/>
              <a:buAutoNum type="arabicPeriod"/>
            </a:pPr>
            <a:r>
              <a:rPr lang="en-US" sz="8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Leading indicators for outages</a:t>
            </a:r>
          </a:p>
          <a:p>
            <a:pPr lvl="1">
              <a:lnSpc>
                <a:spcPct val="90000"/>
              </a:lnSpc>
              <a:buFont typeface="+mj-lt"/>
              <a:buAutoNum type="arabicPeriod"/>
            </a:pPr>
            <a:r>
              <a:rPr lang="en-US" sz="800" dirty="0">
                <a:solidFill>
                  <a:prstClr val="black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AI-assisted incident resolution suggestions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target states for the next 6, 12, and 24 months to drive continuous improvement. Mature governance into policy-as-code. </a:t>
            </a:r>
          </a:p>
          <a:p>
            <a:pPr marL="0" indent="0">
              <a:lnSpc>
                <a:spcPct val="90000"/>
              </a:lnSpc>
              <a:buNone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796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675DA6-0427-059A-A0C7-88C0E54F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D675C8-8AD9-1FE7-8569-FFA227C5B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2870B7-2705-0781-0CC9-88DC776AA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8FE706-341A-B6A6-4076-D7157073A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BCBD5B-0D9A-B137-1821-50699EA79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998" y="770264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Team Leadership &amp; Development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95392D0-0090-DFF9-5D37-2498B54F9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5299" y="1354345"/>
            <a:ext cx="3578706" cy="5837949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Alignment/Forward-Looking Recommendations</a:t>
            </a: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Human Ops &amp; Culture Design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2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Add burnout mitigation strategies (on-call load balancing, mental health cycles). 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Gamification and reward systems for reliability improvements. 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12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Vendor &amp; Third-Party Management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2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Maintain a database of vendors, including details on their systems, contacts, T&amp;C’s, SLAs, and 4th-party dependencies. 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Foster a Security-First Culture with Vendors. 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Vendor risk profiling/tiering.  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8603695-F90E-CF0F-346C-236EB102C2E0}"/>
              </a:ext>
            </a:extLst>
          </p:cNvPr>
          <p:cNvSpPr txBox="1"/>
          <p:nvPr/>
        </p:nvSpPr>
        <p:spPr>
          <a:xfrm>
            <a:off x="867630" y="841468"/>
            <a:ext cx="3922646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Operational/Tactical View</a:t>
            </a: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R="0" lvl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Enhance and manage the high-performing production support team.</a:t>
            </a:r>
          </a:p>
          <a:p>
            <a:pPr marR="0" lvl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R="0" lvl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Align resource planning with business growth, onboarding new technologies, and scaling teams as needed. </a:t>
            </a:r>
          </a:p>
          <a:p>
            <a:pPr marR="0" lvl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R="0" lvl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Provide mentorship and training: Provide cross-training and rotational opportunities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across tech stacks for individual core competencies and team depth.</a:t>
            </a: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</a:p>
          <a:p>
            <a:pPr marR="0" lvl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R="0" lvl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Open door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coaching culture</a:t>
            </a: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with all team members and develop an individual development plan (IDP) with all direct reports.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CA5491-226D-7BE9-B1BD-710B2346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458906-FDC4-0301-B486-A3B62A71220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1943096" y="1725132"/>
            <a:ext cx="5257800" cy="50963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1536F1-9D7C-36F0-F3AD-8AEAEE766B2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6031631" y="0"/>
            <a:ext cx="3112369" cy="56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558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32ED9D-F4FA-D7F6-FDD4-B12EE59FE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82B81A-16E1-D38D-5691-C3FDA52B3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5F873A-4AF2-2F32-5A5E-3E66233DD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CD3691-72DC-CF00-35EE-344F05C0B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1C90560-E371-BB66-8DE1-776D65B33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770264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Stakeholder Management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3A5C9A-2495-D86A-AAE2-F46EBB5AB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8BB914-8CA9-A8CF-6A1F-7E49887B6D8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1943096" y="1725132"/>
            <a:ext cx="5257800" cy="509637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07B42A-4383-AEEE-D776-2BBABCEFB5B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6031631" y="0"/>
            <a:ext cx="3112369" cy="564175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9483BA4C-CFFA-AC17-8D26-7DCF41C7AE12}"/>
              </a:ext>
            </a:extLst>
          </p:cNvPr>
          <p:cNvSpPr txBox="1"/>
          <p:nvPr/>
        </p:nvSpPr>
        <p:spPr>
          <a:xfrm>
            <a:off x="867630" y="934232"/>
            <a:ext cx="3922646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Operational/Tactical View</a:t>
            </a: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1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lvl="0" indent="-228600">
              <a:lnSpc>
                <a:spcPct val="90000"/>
              </a:lnSpc>
              <a:buFont typeface="+mj-lt"/>
              <a:buAutoNum type="arabicPeriod"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Stakeholder &amp; Customer Management: SLA governance, impact reporting (e.g., losses: Productivity (min/</a:t>
            </a:r>
            <a:r>
              <a:rPr kumimoji="0" lang="en-US" sz="1200" b="0" i="0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hrs</a:t>
            </a: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QoS degradation</a:t>
            </a: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</a:t>
            </a: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quality spills). Avoid vanity uptime metrics — focus on user-impacting degradation. 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Proactive stakeholder engagement: Act as a liaison between production IT teams and external/internal stakeholders. 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Provide real-time updates and post-resolution summaries to business and technical leads.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Manage customer relationships by resolving support and incident escalations and creating an actionable feedback loop. Focus on early detection of degradation before users escalate.</a:t>
            </a: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marR="0" lvl="0" indent="-22860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Tiered Commitment Model</a:t>
            </a:r>
          </a:p>
          <a:p>
            <a:pPr lvl="1">
              <a:lnSpc>
                <a:spcPct val="90000"/>
              </a:lnSpc>
              <a:defRPr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SLAs for responsiveness</a:t>
            </a:r>
          </a:p>
          <a:p>
            <a:pPr lvl="1">
              <a:lnSpc>
                <a:spcPct val="90000"/>
              </a:lnSpc>
              <a:defRPr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SLOs for experience</a:t>
            </a:r>
          </a:p>
          <a:p>
            <a:pPr lvl="1">
              <a:lnSpc>
                <a:spcPct val="90000"/>
              </a:lnSpc>
              <a:defRPr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Error budgets tied to change velocity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D067D73C-4530-D17F-50BA-911CCF45D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5299" y="1354345"/>
            <a:ext cx="3578706" cy="5837949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Alignment/Forward-Looking Recommendations</a:t>
            </a:r>
          </a:p>
          <a:p>
            <a:pPr marL="0" indent="0" algn="ctr">
              <a:lnSpc>
                <a:spcPct val="90000"/>
              </a:lnSpc>
              <a:buNone/>
            </a:pPr>
            <a:endParaRPr lang="en-US" sz="12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Work with the customer to define application criticality definitions: Vital, Critical, Important, and Deferable, and agree upon performance metrics for each classification. 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lang="en-US" sz="12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incident escalation criteria to ensure that no ambiguity exists about who should be notified and when. 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Business Value Metrics</a:t>
            </a:r>
          </a:p>
          <a:p>
            <a:pPr lvl="1">
              <a:lnSpc>
                <a:spcPct val="90000"/>
              </a:lnSpc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Cost savings from reclamation</a:t>
            </a:r>
          </a:p>
          <a:p>
            <a:pPr lvl="1">
              <a:lnSpc>
                <a:spcPct val="90000"/>
              </a:lnSpc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Productivity hours returned</a:t>
            </a:r>
          </a:p>
          <a:p>
            <a:pPr lvl="1">
              <a:lnSpc>
                <a:spcPct val="90000"/>
              </a:lnSpc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Reduction in manual effort</a:t>
            </a:r>
          </a:p>
          <a:p>
            <a:pPr lvl="1">
              <a:lnSpc>
                <a:spcPct val="90000"/>
              </a:lnSpc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Audit findings reduced to zero</a:t>
            </a: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lang="en-US" sz="12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buFont typeface="+mj-lt"/>
              <a:buAutoNum type="arabicPeriod"/>
            </a:pPr>
            <a:endParaRPr lang="en-US" sz="1400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</a:pPr>
            <a:endParaRPr lang="en-US" sz="105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220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B8E643-08B4-D923-0518-6B0A7A10B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0D13211-066D-08D9-DD82-D0BF72F39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F4570BD-3DFA-A85E-DD0D-E446EA674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E2A2AE-47DD-70FC-7E95-D5A910304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667DEE2-2E89-DFBD-16E7-F868500C7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770264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Reporting &amp; Performance Analysis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E08CF19-B757-19D5-FDE3-E1849AE69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5299" y="1354345"/>
            <a:ext cx="3578706" cy="5837949"/>
          </a:xfrm>
        </p:spPr>
        <p:txBody>
          <a:bodyPr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400" u="sng" dirty="0">
                <a:solidFill>
                  <a:schemeClr val="tx1">
                    <a:alpha val="80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Strategic Alignment/Forward-Looking Recommendations</a:t>
            </a:r>
          </a:p>
          <a:p>
            <a:pPr algn="ctr">
              <a:lnSpc>
                <a:spcPct val="90000"/>
              </a:lnSpc>
              <a:buFont typeface="+mj-lt"/>
              <a:buAutoNum type="arabicPeriod"/>
            </a:pPr>
            <a:endParaRPr lang="en-US" sz="1400" u="sng" dirty="0">
              <a:solidFill>
                <a:schemeClr val="tx1">
                  <a:alpha val="80000"/>
                </a:schemeClr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Define and track the process area-specific Loss impact of IT incidents.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Implement KPIs: develop metrics with stretch goals (e.g., SLO, error budgets, SLA, incident resolution time, first-call resolution rate, service uptime).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Metrics &amp; Benchmarks: Benchmark against industry data + show trend dashboards. 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Auto-Summarization: daily summaries of incidents, resolutions, and hot spots. 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Reliability Maturity Index to assess resilience, with a goal of systems exceeding 80% in "Optimized" status. </a:t>
            </a: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28600" indent="-228600">
              <a:lnSpc>
                <a:spcPct val="90000"/>
              </a:lnSpc>
              <a:buFont typeface="+mj-lt"/>
              <a:buAutoNum type="arabicPeriod"/>
            </a:pPr>
            <a:r>
              <a:rPr lang="en-US" sz="120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Application-Tech Dependency Map</a:t>
            </a:r>
            <a:r>
              <a:rPr lang="en-US" sz="1050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</a:t>
            </a:r>
            <a:endParaRPr lang="en-US" sz="1200" dirty="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B7CC79DE-2126-8387-74DF-E4CE713FFC4D}"/>
              </a:ext>
            </a:extLst>
          </p:cNvPr>
          <p:cNvSpPr txBox="1"/>
          <p:nvPr/>
        </p:nvSpPr>
        <p:spPr>
          <a:xfrm>
            <a:off x="867630" y="841468"/>
            <a:ext cx="3922646" cy="583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sz="1400" dirty="0">
              <a:solidFill>
                <a:prstClr val="black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Operational/Tactical View</a:t>
            </a:r>
          </a:p>
          <a:p>
            <a:pPr marL="0" marR="0" lvl="0" indent="0" algn="ctr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11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0" indent="0" algn="ctr">
              <a:lnSpc>
                <a:spcPct val="90000"/>
              </a:lnSpc>
              <a:buNone/>
              <a:defRPr/>
            </a:pPr>
            <a:r>
              <a:rPr kumimoji="0" lang="en-US" sz="1200" b="0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 dashboards and analytics to track</a:t>
            </a:r>
          </a:p>
          <a:p>
            <a:pPr marL="0" indent="0" algn="ctr">
              <a:lnSpc>
                <a:spcPct val="90000"/>
              </a:lnSpc>
              <a:buNone/>
              <a:defRPr/>
            </a:pPr>
            <a:endParaRPr kumimoji="0" lang="en-US" sz="1200" b="0" i="0" u="sng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Incident trends</a:t>
            </a:r>
          </a:p>
          <a:p>
            <a:pPr>
              <a:lnSpc>
                <a:spcPct val="90000"/>
              </a:lnSpc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Root causes</a:t>
            </a:r>
          </a:p>
          <a:p>
            <a:pPr>
              <a:lnSpc>
                <a:spcPct val="90000"/>
              </a:lnSpc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SLA adherence</a:t>
            </a:r>
          </a:p>
          <a:p>
            <a:pPr>
              <a:lnSpc>
                <a:spcPct val="90000"/>
              </a:lnSpc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Team performance</a:t>
            </a:r>
          </a:p>
          <a:p>
            <a:pPr>
              <a:lnSpc>
                <a:spcPct val="90000"/>
              </a:lnSpc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System Uptime</a:t>
            </a:r>
          </a:p>
          <a:p>
            <a:pPr>
              <a:lnSpc>
                <a:spcPct val="90000"/>
              </a:lnSpc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Hour Mean Time to Acknowledge (MTTA)</a:t>
            </a:r>
          </a:p>
          <a:p>
            <a:pPr>
              <a:lnSpc>
                <a:spcPct val="90000"/>
              </a:lnSpc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Mean Time to Resolve (MTTR)</a:t>
            </a:r>
          </a:p>
          <a:p>
            <a:pPr>
              <a:lnSpc>
                <a:spcPct val="90000"/>
              </a:lnSpc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Repeat Incidents (same root cause)</a:t>
            </a:r>
          </a:p>
          <a:p>
            <a:pPr>
              <a:lnSpc>
                <a:spcPct val="90000"/>
              </a:lnSpc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Customer Satisfaction Score</a:t>
            </a:r>
          </a:p>
          <a:p>
            <a:pPr marL="0" marR="0" lvl="0" indent="0" defTabSz="4572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1200" b="0" i="0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>
              <a:lnSpc>
                <a:spcPct val="90000"/>
              </a:lnSpc>
              <a:defRPr/>
            </a:pPr>
            <a:r>
              <a:rPr kumimoji="0" lang="en-US" sz="1200" b="0" i="0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Present monthly and quarterly production health reports to senior management. </a:t>
            </a:r>
            <a:endParaRPr kumimoji="0" lang="en-US" sz="1200" b="0" i="0" u="sng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D12422-E65B-5201-1EAE-3E57202DF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CA84BC-4B27-EFB4-9E4B-AB5403310C7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1943096" y="1725132"/>
            <a:ext cx="5257800" cy="50963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D0080E2-DC6B-527D-8C17-75DCD794237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0000"/>
          </a:blip>
          <a:stretch>
            <a:fillRect/>
          </a:stretch>
        </p:blipFill>
        <p:spPr>
          <a:xfrm>
            <a:off x="6031631" y="0"/>
            <a:ext cx="3112369" cy="56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694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B6E6A0-F93D-6C23-9837-04F8DE6AF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1701623-4629-E941-6AAA-B70273411F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BD9789-23EE-34E3-8671-F1093D12D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638" y="770264"/>
            <a:ext cx="7416372" cy="90013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Thank You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86F132-5E5B-E445-63C7-640B70D0D9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8C5832-A876-7A33-5D77-3E50FA778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5E4335-A1EA-4271-EEC7-0578F2551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497164-EDD0-A9B8-98B2-70C1E711CB4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1943096" y="1725132"/>
            <a:ext cx="5257800" cy="50963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BBF686-7125-0998-E43E-61C9AF6DFA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6031631" y="0"/>
            <a:ext cx="3112369" cy="56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35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14920</TotalTime>
  <Words>1719</Words>
  <Application>Microsoft Office PowerPoint</Application>
  <PresentationFormat>On-screen Show (4:3)</PresentationFormat>
  <Paragraphs>257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fkGroteskNeue</vt:lpstr>
      <vt:lpstr>Sans Serif Collection</vt:lpstr>
      <vt:lpstr>Office Theme</vt:lpstr>
      <vt:lpstr>Executive Summary: Strategic Alignment to Business Goals</vt:lpstr>
      <vt:lpstr>Business Objectives Alignment / Core Pillars of Excellence</vt:lpstr>
      <vt:lpstr>Incident and Problem Management “The Run”</vt:lpstr>
      <vt:lpstr>Financial Governance</vt:lpstr>
      <vt:lpstr>Process Improvement &amp; Automation</vt:lpstr>
      <vt:lpstr>Team Leadership &amp; Development</vt:lpstr>
      <vt:lpstr>Stakeholder Management</vt:lpstr>
      <vt:lpstr>Reporting &amp; Performance Analysis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Kyle Mueller</dc:creator>
  <cp:keywords/>
  <dc:description>generated using python-pptx</dc:description>
  <cp:lastModifiedBy>Kyle Mueller</cp:lastModifiedBy>
  <cp:revision>87</cp:revision>
  <cp:lastPrinted>2026-02-13T18:33:16Z</cp:lastPrinted>
  <dcterms:created xsi:type="dcterms:W3CDTF">2013-01-27T09:14:16Z</dcterms:created>
  <dcterms:modified xsi:type="dcterms:W3CDTF">2026-02-15T17:22:46Z</dcterms:modified>
  <cp:category/>
</cp:coreProperties>
</file>