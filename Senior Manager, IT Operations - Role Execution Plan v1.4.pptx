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6" r:id="rId2"/>
    <p:sldId id="265" r:id="rId3"/>
    <p:sldId id="274" r:id="rId4"/>
    <p:sldId id="272" r:id="rId5"/>
    <p:sldId id="273" r:id="rId6"/>
    <p:sldId id="257" r:id="rId7"/>
    <p:sldId id="268" r:id="rId8"/>
    <p:sldId id="275" r:id="rId9"/>
    <p:sldId id="269" r:id="rId10"/>
    <p:sldId id="270" r:id="rId11"/>
    <p:sldId id="271" r:id="rId12"/>
    <p:sldId id="267" r:id="rId13"/>
  </p:sldIdLst>
  <p:sldSz cx="9144000" cy="6858000" type="screen4x3"/>
  <p:notesSz cx="7102475" cy="938847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728" autoAdjust="0"/>
  </p:normalViewPr>
  <p:slideViewPr>
    <p:cSldViewPr snapToGrid="0" snapToObjects="1">
      <p:cViewPr varScale="1">
        <p:scale>
          <a:sx n="88" d="100"/>
          <a:sy n="88" d="100"/>
        </p:scale>
        <p:origin x="1473" y="27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5BB6334-0627-46D3-00DF-055112AA36E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2A895A-91BD-F24D-2E4E-707B91B534D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2725" y="0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C03948-AA1C-4765-A5BA-7E64F304F3F0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1FD8BA-B4A8-4B1A-739D-90073B879B4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918575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6134EF-EA75-DB47-3DDA-C518AB9824F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2725" y="8918575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055106-DC81-4200-AF4B-C5B78BCB0D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79726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471054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471054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r">
              <a:defRPr sz="1200"/>
            </a:lvl1pPr>
          </a:lstStyle>
          <a:p>
            <a:fld id="{C642659E-EE92-4651-AA41-CDB9F9E5F748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38275" y="1173163"/>
            <a:ext cx="4225925" cy="31686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229" tIns="47114" rIns="94229" bIns="47114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248" y="4518204"/>
            <a:ext cx="5681980" cy="3696712"/>
          </a:xfrm>
          <a:prstGeom prst="rect">
            <a:avLst/>
          </a:prstGeom>
        </p:spPr>
        <p:txBody>
          <a:bodyPr vert="horz" lIns="94229" tIns="47114" rIns="94229" bIns="47114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917422"/>
            <a:ext cx="3077739" cy="471053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092" y="8917422"/>
            <a:ext cx="3077739" cy="471053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r">
              <a:defRPr sz="1200"/>
            </a:lvl1pPr>
          </a:lstStyle>
          <a:p>
            <a:fld id="{600E7104-C665-418B-BECD-5F6BB8C7A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633095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50722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None/>
            </a:pPr>
            <a:endParaRPr lang="en-US" b="0" i="0" dirty="0">
              <a:effectLst/>
              <a:latin typeface="fkGroteskNeue"/>
            </a:endParaRPr>
          </a:p>
        </p:txBody>
      </p:sp>
    </p:spTree>
    <p:extLst>
      <p:ext uri="{BB962C8B-B14F-4D97-AF65-F5344CB8AC3E}">
        <p14:creationId xmlns:p14="http://schemas.microsoft.com/office/powerpoint/2010/main" val="26967032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A45F08-387B-5636-D692-5F501ECC9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865C0D-8A31-8986-F6E5-BA0F92E33C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B6041E-F304-5D34-E8CC-9EE3AB66C8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10364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59EB8-5589-60DF-8632-E0447AB58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4BC4E4-AD4B-688D-EF14-C36D6E10F8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F658DA-1E4E-4721-E649-7DEE2A8803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None/>
            </a:pPr>
            <a:endParaRPr lang="en-US" b="0" i="0" dirty="0">
              <a:effectLst/>
              <a:latin typeface="fkGroteskNeue"/>
            </a:endParaRPr>
          </a:p>
        </p:txBody>
      </p:sp>
    </p:spTree>
    <p:extLst>
      <p:ext uri="{BB962C8B-B14F-4D97-AF65-F5344CB8AC3E}">
        <p14:creationId xmlns:p14="http://schemas.microsoft.com/office/powerpoint/2010/main" val="7398434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5C287F-3CD1-E18D-5343-4ECF865C6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4D1B20-782D-7F6B-A90C-A8EFDA8348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F200AD-7B11-F285-A5B5-634033B284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None/>
            </a:pPr>
            <a:endParaRPr lang="en-US" b="0" i="0" dirty="0">
              <a:effectLst/>
              <a:latin typeface="fkGroteskNeue"/>
            </a:endParaRPr>
          </a:p>
        </p:txBody>
      </p:sp>
    </p:spTree>
    <p:extLst>
      <p:ext uri="{BB962C8B-B14F-4D97-AF65-F5344CB8AC3E}">
        <p14:creationId xmlns:p14="http://schemas.microsoft.com/office/powerpoint/2010/main" val="2390173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29653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5179C7-4693-83F7-BB87-F89F8BDCF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81179C-57A3-E8F5-B3A0-5DF9FD3176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F093B0-81FD-C4A4-F29A-7AAD9EA563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15618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564EBD-DE15-EB8C-AA04-ED0DC18E8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801341-7EAA-338D-7D00-1F4CA6132E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5FAC5E-8CE4-41E4-607E-4E5CD03031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65763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2C58FF-6E89-E470-BFE2-E5B5F96B6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852450-A1BA-0A0F-26E9-43DD666C3B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89B288-785B-65A9-2CFC-51F2B3E067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59498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F39017-C74A-CDAB-E7FE-5DCCB1D72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9F9DD8-97DE-231A-A0D2-D42680922D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6C368E-DA4F-9523-BA6B-11755C99ED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93590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50C42E-340F-5E8D-AB7D-8D6F4D4AB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5B708E-DBF0-ED25-6A44-97F561962F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3C458F-4951-7A57-67FB-412672D439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60013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F018D-719C-4596-B324-AEA4D0CC7520}" type="datetime1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357CA-A1EB-4E52-83A2-042AE293F66E}" type="datetime1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D2A5D-F704-4730-A958-80862EFA23C5}" type="datetime1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4D4AD-FA8B-403F-B11F-CB821DCF2366}" type="datetime1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EC295-3330-4894-9239-D3247D7C0C0D}" type="datetime1">
              <a:rPr lang="en-US" smtClean="0"/>
              <a:t>4/29/2026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318B9-79BA-4540-A194-06620BECCE06}" type="datetime1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A98C9-6B04-43A5-9D0E-EA194368A4CE}" type="datetime1">
              <a:rPr lang="en-US" smtClean="0"/>
              <a:t>4/29/2026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F8A9D-F393-41A8-BB4C-1352AAAE6C55}" type="datetime1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24A41-F480-4C00-959F-557DF9B1E39C}" type="datetime1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D8A75-A2BD-4BFD-BBF3-B74750D63075}" type="datetime1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F2021-71F5-43AE-B5D4-69C7F0D5E997}" type="datetime1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532B79-B127-48A5-9E0D-685C2BA2303F}" type="datetime1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-5705"/>
            <a:ext cx="9143993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867638" y="637762"/>
            <a:ext cx="7416372" cy="900131"/>
          </a:xfrm>
        </p:spPr>
        <p:txBody>
          <a:bodyPr anchor="t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2700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Executive Summary: Strategic Alignment to Business Goals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9143992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638" y="2010758"/>
            <a:ext cx="34289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E1227D41-4CE1-EB75-239D-0B0A36175B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5298" y="1688642"/>
            <a:ext cx="4008693" cy="5169358"/>
          </a:xfrm>
        </p:spPr>
        <p:txBody>
          <a:bodyPr anchor="ctr">
            <a:normAutofit fontScale="85000" lnSpcReduction="20000"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400" u="sng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Strategic Alignment &amp;</a:t>
            </a:r>
          </a:p>
          <a:p>
            <a:pPr marL="0" indent="0" algn="ctr">
              <a:lnSpc>
                <a:spcPct val="90000"/>
              </a:lnSpc>
              <a:buNone/>
            </a:pPr>
            <a:r>
              <a:rPr lang="en-US" sz="1400" u="sng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Forward-Looking Recommendations</a:t>
            </a:r>
            <a:endParaRPr lang="en-US" sz="1400" dirty="0">
              <a:solidFill>
                <a:schemeClr val="tx1">
                  <a:alpha val="80000"/>
                </a:schemeClr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1200" dirty="0">
              <a:solidFill>
                <a:schemeClr val="tx1">
                  <a:alpha val="80000"/>
                </a:schemeClr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Align IT Operations to business outcomes by establishing a high-reliability, ITIL-driven operating model that reduces downtime, improves service performance, and enables scalable growth for a rapidly expanding enterprise.</a:t>
            </a:r>
          </a:p>
          <a:p>
            <a:pPr marL="0" indent="0">
              <a:lnSpc>
                <a:spcPct val="90000"/>
              </a:lnSpc>
              <a:buNone/>
            </a:pPr>
            <a:endParaRPr lang="en-US" sz="1200" dirty="0">
              <a:solidFill>
                <a:schemeClr val="tx1">
                  <a:alpha val="80000"/>
                </a:schemeClr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sz="1200" b="1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Strategic Objectives</a:t>
            </a:r>
            <a:r>
              <a:rPr lang="en-US" sz="12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:</a:t>
            </a:r>
          </a:p>
          <a:p>
            <a:pPr marL="0" indent="0">
              <a:lnSpc>
                <a:spcPct val="90000"/>
              </a:lnSpc>
              <a:buNone/>
            </a:pPr>
            <a:endParaRPr lang="en-US" sz="1200" dirty="0">
              <a:solidFill>
                <a:schemeClr val="tx1">
                  <a:alpha val="80000"/>
                </a:schemeClr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sz="1200" u="sng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Drive Operational Reliability at Scale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Establish end-to-end ownership of service availability across infrastructure, enterprise applications, and end-user systems, targeting measurable improvements in uptime, MTTR, and incident reduction. </a:t>
            </a:r>
          </a:p>
          <a:p>
            <a:pPr marL="0" indent="0">
              <a:lnSpc>
                <a:spcPct val="90000"/>
              </a:lnSpc>
              <a:buNone/>
            </a:pPr>
            <a:endParaRPr lang="en-US" sz="1200" dirty="0">
              <a:solidFill>
                <a:schemeClr val="tx1">
                  <a:alpha val="80000"/>
                </a:schemeClr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sz="1200" u="sng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Operationalize ITIL-Based Service Management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Mature Incident, Problem, Change, and Service Transition practices with clearly defined ownership, governance, and performance metrics.</a:t>
            </a:r>
          </a:p>
          <a:p>
            <a:pPr marL="0" indent="0">
              <a:lnSpc>
                <a:spcPct val="90000"/>
              </a:lnSpc>
              <a:buNone/>
            </a:pPr>
            <a:endParaRPr lang="en-US" sz="1200" dirty="0">
              <a:solidFill>
                <a:schemeClr val="tx1">
                  <a:alpha val="80000"/>
                </a:schemeClr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sz="1200" u="sng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Enable Proactive &amp; Predictive Operations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Implement observability, event correlation, and automation to reduce noise, improve alert quality, and shift from reactive to proactive operations. </a:t>
            </a:r>
          </a:p>
          <a:p>
            <a:pPr marL="0" indent="0">
              <a:lnSpc>
                <a:spcPct val="90000"/>
              </a:lnSpc>
              <a:buNone/>
            </a:pPr>
            <a:endParaRPr lang="en-US" sz="1200" dirty="0">
              <a:solidFill>
                <a:schemeClr val="tx1">
                  <a:alpha val="80000"/>
                </a:schemeClr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sz="1200" u="sng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Strengthen Vendor &amp; AMS Governance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Drive accountability through SLA/KPI frameworks, structured service reviews, and performance-based vendor management. </a:t>
            </a:r>
          </a:p>
          <a:p>
            <a:pPr marL="0" indent="0">
              <a:lnSpc>
                <a:spcPct val="90000"/>
              </a:lnSpc>
              <a:buNone/>
            </a:pPr>
            <a:endParaRPr lang="en-US" sz="1200" dirty="0">
              <a:solidFill>
                <a:schemeClr val="tx1">
                  <a:alpha val="80000"/>
                </a:schemeClr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sz="1200" u="sng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Enhance Stakeholder Trust &amp; Transparency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Deliver real-time operational visibility, clear escalation models, and business-aligned reporting tied to service impact. </a:t>
            </a:r>
          </a:p>
        </p:txBody>
      </p:sp>
      <p:sp>
        <p:nvSpPr>
          <p:cNvPr id="31" name="Slide Number Placeholder 30">
            <a:extLst>
              <a:ext uri="{FF2B5EF4-FFF2-40B4-BE49-F238E27FC236}">
                <a16:creationId xmlns:a16="http://schemas.microsoft.com/office/drawing/2014/main" id="{B919A4F1-69F4-137B-127A-6E32CBEA5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</a:t>
            </a:fld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BF193633-33A5-B76D-3981-AC3FC29262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177" y="2768161"/>
            <a:ext cx="9071640" cy="2653609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C52186B8-0F33-6534-E754-65C35E4285A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51491" y="-3428"/>
            <a:ext cx="1200150" cy="1190625"/>
          </a:xfrm>
          <a:prstGeom prst="rect">
            <a:avLst/>
          </a:prstGeom>
        </p:spPr>
      </p:pic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6847F7CE-08CC-1970-F934-148BCDCD756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67630" y="841468"/>
            <a:ext cx="3922646" cy="58379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90000"/>
              </a:lnSpc>
              <a:buFont typeface="Arial"/>
              <a:buNone/>
            </a:pPr>
            <a:r>
              <a:rPr lang="en-US" sz="2400" u="sng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Strategic Intent</a:t>
            </a:r>
          </a:p>
          <a:p>
            <a:pPr marL="0" indent="0" algn="ctr">
              <a:lnSpc>
                <a:spcPct val="90000"/>
              </a:lnSpc>
              <a:buFont typeface="Arial"/>
              <a:buNone/>
            </a:pPr>
            <a:r>
              <a:rPr lang="en-US" sz="16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From System Uptime to Service Reliability to Business Value </a:t>
            </a:r>
          </a:p>
          <a:p>
            <a:pPr marL="0" indent="0">
              <a:lnSpc>
                <a:spcPct val="90000"/>
              </a:lnSpc>
              <a:buFont typeface="Arial"/>
              <a:buNone/>
            </a:pPr>
            <a:endParaRPr lang="en-US" sz="1200" dirty="0">
              <a:solidFill>
                <a:schemeClr val="tx1">
                  <a:alpha val="80000"/>
                </a:schemeClr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indent="0">
              <a:lnSpc>
                <a:spcPct val="90000"/>
              </a:lnSpc>
              <a:buFont typeface="Arial"/>
              <a:buNone/>
            </a:pPr>
            <a:endParaRPr lang="en-US" sz="1200" dirty="0">
              <a:solidFill>
                <a:schemeClr val="tx1">
                  <a:alpha val="80000"/>
                </a:schemeClr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indent="0" algn="ctr">
              <a:lnSpc>
                <a:spcPct val="90000"/>
              </a:lnSpc>
              <a:buNone/>
            </a:pPr>
            <a:r>
              <a:rPr lang="en-US" sz="2400" u="sng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IT Operations</a:t>
            </a:r>
          </a:p>
          <a:p>
            <a:pPr marL="0" indent="0" algn="ctr">
              <a:lnSpc>
                <a:spcPct val="90000"/>
              </a:lnSpc>
              <a:buNone/>
            </a:pPr>
            <a:r>
              <a:rPr lang="en-US" sz="16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Is the execution engine of the business, directly impacting revenue, customer experience, and operational scalability. It is a strategic enabler that maximizes business agility, safeguards customer trust, and accelerates innovation.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6B6204-BBBB-8A47-35D4-692F2E673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87FBB49-D555-EF67-98EA-853829F1F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-5705"/>
            <a:ext cx="9143993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C2184A7-14FB-78C3-650E-E711D0BB1C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9143992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D1A2CF1-2E34-0F50-A29B-5D8DB160A4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638" y="2010758"/>
            <a:ext cx="34289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9822E44C-45A8-DE0D-25B1-68312CB5B59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867638" y="637762"/>
            <a:ext cx="7416372" cy="900131"/>
          </a:xfrm>
        </p:spPr>
        <p:txBody>
          <a:bodyPr anchor="t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2700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Business Objectives Alignment / Core Pillars of Excellence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4878710C-D902-0000-A537-49120993E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F6E25562-22C0-6240-BC18-9E7B5CDBE1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177" y="2768161"/>
            <a:ext cx="9071640" cy="2653609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7D4DF47D-958A-5962-4B23-EFECC72EC06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51491" y="-3428"/>
            <a:ext cx="1200150" cy="1190625"/>
          </a:xfrm>
          <a:prstGeom prst="rect">
            <a:avLst/>
          </a:prstGeom>
        </p:spPr>
      </p:pic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031E3C5A-ECCD-2A32-F19F-5FE9670C78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0" y="1688641"/>
            <a:ext cx="4571999" cy="5216424"/>
          </a:xfrm>
        </p:spPr>
        <p:txBody>
          <a:bodyPr anchor="ctr">
            <a:normAutofit fontScale="77500" lnSpcReduction="20000"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500" u="sng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Strategic Alignment &amp; Forward-Looking Recommendations</a:t>
            </a:r>
          </a:p>
          <a:p>
            <a:pPr marL="0" indent="0" algn="ctr">
              <a:lnSpc>
                <a:spcPct val="90000"/>
              </a:lnSpc>
              <a:buNone/>
            </a:pPr>
            <a:endParaRPr lang="en-US" sz="10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indent="0" algn="ctr">
              <a:lnSpc>
                <a:spcPct val="90000"/>
              </a:lnSpc>
              <a:buNone/>
            </a:pPr>
            <a:r>
              <a:rPr lang="en-US" sz="1000" b="1" u="sng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Operational Reliability &amp; Service Ownership (Foundation)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Establish end-to-end ownership of service performance across infrastructure, enterprise applications, and end-user systems.</a:t>
            </a:r>
          </a:p>
          <a:p>
            <a:pPr>
              <a:lnSpc>
                <a:spcPct val="120000"/>
              </a:lnSpc>
              <a:buFont typeface="+mj-lt"/>
              <a:buAutoNum type="arabicPeriod"/>
            </a:pP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Define and enforce SLAs, OLAs, and XLAs aligned to business impact  </a:t>
            </a:r>
          </a:p>
          <a:p>
            <a:pPr>
              <a:lnSpc>
                <a:spcPct val="120000"/>
              </a:lnSpc>
              <a:buFont typeface="+mj-lt"/>
              <a:buAutoNum type="arabicPeriod"/>
            </a:pP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Implement high-availability architectures, failover strategies, and capacity planning</a:t>
            </a:r>
          </a:p>
          <a:p>
            <a:pPr>
              <a:lnSpc>
                <a:spcPct val="120000"/>
              </a:lnSpc>
              <a:buFont typeface="+mj-lt"/>
              <a:buAutoNum type="arabicPeriod"/>
            </a:pP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Operationalize observability (monitoring, logging, tracing) with actionable alerting and noise reduction</a:t>
            </a:r>
          </a:p>
          <a:p>
            <a:pPr>
              <a:lnSpc>
                <a:spcPct val="120000"/>
              </a:lnSpc>
              <a:buFont typeface="+mj-lt"/>
              <a:buAutoNum type="arabicPeriod"/>
            </a:pP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Improve MTTD/MTTR through structured incident response and escalation models</a:t>
            </a:r>
          </a:p>
          <a:p>
            <a:pPr marL="0" indent="0">
              <a:lnSpc>
                <a:spcPct val="90000"/>
              </a:lnSpc>
              <a:buNone/>
            </a:pPr>
            <a:endParaRPr lang="en-US" sz="10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indent="0" algn="ctr">
              <a:lnSpc>
                <a:spcPct val="90000"/>
              </a:lnSpc>
              <a:buNone/>
            </a:pPr>
            <a:r>
              <a:rPr lang="en-US" sz="1000" b="1" u="sng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ITIL-Based Service Management (Core Operating Model)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Build and mature a scalable ITSM framework across all service management disciplines.</a:t>
            </a:r>
          </a:p>
          <a:p>
            <a:pPr marL="228600" indent="-228600">
              <a:lnSpc>
                <a:spcPct val="120000"/>
              </a:lnSpc>
              <a:buFont typeface="+mj-lt"/>
              <a:buAutoNum type="arabicPeriod"/>
            </a:pP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Formalize Incident, Problem, Change, and Service Transition ownership and governance</a:t>
            </a:r>
          </a:p>
          <a:p>
            <a:pPr marL="228600" indent="-228600">
              <a:lnSpc>
                <a:spcPct val="120000"/>
              </a:lnSpc>
              <a:buFont typeface="+mj-lt"/>
              <a:buAutoNum type="arabicPeriod"/>
            </a:pP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Implement Problem Management (RCA) to eliminate recurring issues and reduce incident volume</a:t>
            </a:r>
          </a:p>
          <a:p>
            <a:pPr marL="228600" indent="-228600">
              <a:lnSpc>
                <a:spcPct val="120000"/>
              </a:lnSpc>
              <a:buFont typeface="+mj-lt"/>
              <a:buAutoNum type="arabicPeriod"/>
            </a:pP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Establish Change Enablement (CAB/ECAB) and release governance to protect production stability</a:t>
            </a:r>
          </a:p>
          <a:p>
            <a:pPr marL="228600" indent="-228600">
              <a:lnSpc>
                <a:spcPct val="120000"/>
              </a:lnSpc>
              <a:buFont typeface="+mj-lt"/>
              <a:buAutoNum type="arabicPeriod"/>
            </a:pP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Define runbooks, escalation paths, and operational readiness standards for all services</a:t>
            </a:r>
          </a:p>
          <a:p>
            <a:pPr marL="0" indent="0">
              <a:lnSpc>
                <a:spcPct val="90000"/>
              </a:lnSpc>
              <a:buNone/>
            </a:pPr>
            <a:endParaRPr lang="en-US" sz="10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indent="0" algn="ctr">
              <a:lnSpc>
                <a:spcPct val="90000"/>
              </a:lnSpc>
              <a:buNone/>
            </a:pPr>
            <a:r>
              <a:rPr lang="en-US" sz="1000" b="1" u="sng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Scalable Support Model &amp; Operational Execution</a:t>
            </a:r>
            <a:endParaRPr lang="en-US" sz="1000" b="1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Design a high-performing support model that ensures consistent, global service delivery.</a:t>
            </a:r>
          </a:p>
          <a:p>
            <a:pPr marL="228600" indent="-228600">
              <a:lnSpc>
                <a:spcPct val="120000"/>
              </a:lnSpc>
              <a:buFont typeface="+mj-lt"/>
              <a:buAutoNum type="arabicPeriod"/>
            </a:pP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Implement tiered support model (L1–L4) with clear ownership and escalation paths</a:t>
            </a:r>
          </a:p>
          <a:p>
            <a:pPr marL="228600" indent="-228600">
              <a:lnSpc>
                <a:spcPct val="120000"/>
              </a:lnSpc>
              <a:buFont typeface="+mj-lt"/>
              <a:buAutoNum type="arabicPeriod"/>
            </a:pP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Establish 24/7 operational coverage and on-call models aligned to business needs</a:t>
            </a:r>
          </a:p>
          <a:p>
            <a:pPr marL="228600" indent="-228600">
              <a:lnSpc>
                <a:spcPct val="120000"/>
              </a:lnSpc>
              <a:buFont typeface="+mj-lt"/>
              <a:buAutoNum type="arabicPeriod"/>
            </a:pP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Embed engineering support (L3/L4) for rapid resolution of complex incidents</a:t>
            </a:r>
          </a:p>
          <a:p>
            <a:pPr marL="228600" indent="-228600">
              <a:lnSpc>
                <a:spcPct val="120000"/>
              </a:lnSpc>
              <a:buFont typeface="+mj-lt"/>
              <a:buAutoNum type="arabicPeriod"/>
            </a:pP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Standardize incident command structure and war room execution </a:t>
            </a:r>
          </a:p>
          <a:p>
            <a:pPr marL="228600" indent="-228600">
              <a:lnSpc>
                <a:spcPct val="90000"/>
              </a:lnSpc>
              <a:buFont typeface="+mj-lt"/>
              <a:buAutoNum type="arabicPeriod"/>
            </a:pPr>
            <a:endParaRPr lang="en-US" sz="10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indent="0" algn="ctr">
              <a:lnSpc>
                <a:spcPct val="90000"/>
              </a:lnSpc>
              <a:buNone/>
            </a:pPr>
            <a:r>
              <a:rPr lang="en-US" sz="1000" b="1" u="sng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Automation, Monitoring &amp; Continuous Improvement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Reduce operational toil and enable proactive service management through automation and data-driven insights.</a:t>
            </a:r>
          </a:p>
          <a:p>
            <a:pPr marL="228600" indent="-228600">
              <a:lnSpc>
                <a:spcPct val="120000"/>
              </a:lnSpc>
              <a:buFont typeface="+mj-lt"/>
              <a:buAutoNum type="arabicPeriod"/>
            </a:pP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Implement event management and alert correlation to improve signal-to-noise ratio</a:t>
            </a:r>
          </a:p>
          <a:p>
            <a:pPr marL="228600" indent="-228600">
              <a:lnSpc>
                <a:spcPct val="120000"/>
              </a:lnSpc>
              <a:buFont typeface="+mj-lt"/>
              <a:buAutoNum type="arabicPeriod"/>
            </a:pP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Drive automation of repetitive operational tasks (remediation, provisioning, monitoring)</a:t>
            </a:r>
          </a:p>
          <a:p>
            <a:pPr marL="228600" indent="-228600">
              <a:lnSpc>
                <a:spcPct val="120000"/>
              </a:lnSpc>
              <a:buFont typeface="+mj-lt"/>
              <a:buAutoNum type="arabicPeriod"/>
            </a:pP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Use trend analysis and metrics to continuously improve incident reduction and service performance</a:t>
            </a:r>
          </a:p>
          <a:p>
            <a:pPr marL="228600" indent="-228600">
              <a:lnSpc>
                <a:spcPct val="120000"/>
              </a:lnSpc>
              <a:buFont typeface="+mj-lt"/>
              <a:buAutoNum type="arabicPeriod"/>
            </a:pP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Introduce controlled resilience testing (failure simulation) to validate system stability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8D3970D7-A429-86DF-DFE5-3C8E5FAB0D28}"/>
              </a:ext>
            </a:extLst>
          </p:cNvPr>
          <p:cNvSpPr txBox="1">
            <a:spLocks/>
          </p:cNvSpPr>
          <p:nvPr/>
        </p:nvSpPr>
        <p:spPr>
          <a:xfrm>
            <a:off x="324677" y="1510285"/>
            <a:ext cx="3922646" cy="51693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lang="en-US" sz="1400" dirty="0">
              <a:solidFill>
                <a:prstClr val="black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en-US" sz="14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marR="0" lvl="0" indent="0" algn="ctr" fontAlgn="auto">
              <a:lnSpc>
                <a:spcPct val="90000"/>
              </a:lnSpc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lang="en-US" sz="1400" u="sng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Operational / Tactical Execution</a:t>
            </a:r>
          </a:p>
          <a:p>
            <a:pPr marR="0" lvl="0" algn="l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kumimoji="0" lang="en-US" sz="14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12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Minimize Production Downtime</a:t>
            </a:r>
            <a:endParaRPr lang="en-US" sz="1200" u="sng" dirty="0">
              <a:solidFill>
                <a:prstClr val="black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Real-time alerting, defined escalation paths, and structured incident response with measurable MTTR reduction</a:t>
            </a:r>
          </a:p>
          <a:p>
            <a:pPr marL="0" marR="0" lvl="0" indent="0" algn="l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12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Improve System Stability</a:t>
            </a:r>
          </a:p>
          <a:p>
            <a:pPr marL="0" marR="0" lvl="0" indent="0" algn="l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Root cause elimination through Problem Management and continuous reduction of repeat incidents</a:t>
            </a:r>
          </a:p>
          <a:p>
            <a:pPr marL="0" marR="0" lvl="0" indent="0" algn="l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12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Strengthen Cross-Functional Execution</a:t>
            </a:r>
          </a:p>
          <a:p>
            <a:pPr marL="0" marR="0" lvl="0" indent="0" algn="l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Shared SLAs, standardized runbooks, and integrated workflows across IT, engineering, and business teams</a:t>
            </a:r>
          </a:p>
          <a:p>
            <a:pPr marL="0" marR="0" lvl="0" indent="0" algn="l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12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Optimize Operational Efficiency</a:t>
            </a:r>
          </a:p>
          <a:p>
            <a:pPr marL="0" marR="0" lvl="0" indent="0" algn="l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Automation of monitoring, deployment, and support processes to reduce manual effort and improve response time</a:t>
            </a:r>
          </a:p>
          <a:p>
            <a:pPr marL="0" marR="0" lvl="0" indent="0" algn="l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12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Build Stakeholder Confidence</a:t>
            </a:r>
          </a:p>
          <a:p>
            <a:pPr marL="0" marR="0" lvl="0" indent="0" algn="l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Transparent reporting, real-time status communication, and clearly defined service performance metrics</a:t>
            </a:r>
          </a:p>
        </p:txBody>
      </p:sp>
    </p:spTree>
    <p:extLst>
      <p:ext uri="{BB962C8B-B14F-4D97-AF65-F5344CB8AC3E}">
        <p14:creationId xmlns:p14="http://schemas.microsoft.com/office/powerpoint/2010/main" val="30698475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84B921-39CA-35FD-736E-210099695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F5C6031-847F-58EB-5B63-79983B8EE7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-5705"/>
            <a:ext cx="9143993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59FB656-9E89-EC41-F82E-AF4E2EAC0A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9143992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BD35EF0-5EED-32F6-E8E2-B57AACFEEC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638" y="2010758"/>
            <a:ext cx="34289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8238E129-1C57-A400-F954-D2CE8CDFE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7638" y="637762"/>
            <a:ext cx="7416372" cy="900131"/>
          </a:xfrm>
        </p:spPr>
        <p:txBody>
          <a:bodyPr anchor="t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2700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Transformation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DBDA737-9732-5D61-6AE6-5A8CF846A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12893CA-2BD9-A6E0-B4A5-A6016A1312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177" y="2768161"/>
            <a:ext cx="9071640" cy="2653609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94B8EE8C-9292-D340-4A07-B7648264DF0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51491" y="-3428"/>
            <a:ext cx="1200150" cy="1190625"/>
          </a:xfrm>
          <a:prstGeom prst="rect">
            <a:avLst/>
          </a:prstGeom>
        </p:spPr>
      </p:pic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F9E33929-A585-BCC2-BCB7-54616AF12A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3" y="1709847"/>
            <a:ext cx="4571999" cy="5169359"/>
          </a:xfrm>
          <a:noFill/>
        </p:spPr>
        <p:txBody>
          <a:bodyPr anchor="ctr">
            <a:normAutofit fontScale="77500" lnSpcReduction="20000"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500" u="sng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Strategic Alignment &amp; Forward-Looking Recommendations</a:t>
            </a:r>
          </a:p>
          <a:p>
            <a:pPr marL="0" indent="0" algn="ctr">
              <a:lnSpc>
                <a:spcPct val="90000"/>
              </a:lnSpc>
              <a:buNone/>
            </a:pPr>
            <a:endParaRPr lang="en-US" sz="1400" u="sng" dirty="0">
              <a:solidFill>
                <a:schemeClr val="tx1">
                  <a:alpha val="80000"/>
                </a:schemeClr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indent="0" algn="ctr">
              <a:lnSpc>
                <a:spcPct val="90000"/>
              </a:lnSpc>
              <a:buNone/>
            </a:pPr>
            <a:r>
              <a:rPr lang="en-US" sz="1400" u="sng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Target Operating Model</a:t>
            </a:r>
          </a:p>
          <a:p>
            <a:pPr marL="0" indent="0" algn="ctr">
              <a:lnSpc>
                <a:spcPct val="90000"/>
              </a:lnSpc>
              <a:buNone/>
            </a:pPr>
            <a:endParaRPr lang="en-US" sz="1400" dirty="0">
              <a:solidFill>
                <a:schemeClr val="tx1">
                  <a:alpha val="80000"/>
                </a:schemeClr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>
              <a:lnSpc>
                <a:spcPct val="120000"/>
              </a:lnSpc>
              <a:buFont typeface="+mj-lt"/>
              <a:buAutoNum type="arabicPeriod"/>
            </a:pPr>
            <a:r>
              <a:rPr lang="en-US" sz="1200" u="sng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Structured, High-Performance Incident Management</a:t>
            </a:r>
            <a:r>
              <a:rPr lang="en-US" sz="12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: Defined Severity model, Incident Command, and measurable MTTR improvement</a:t>
            </a:r>
          </a:p>
          <a:p>
            <a:pPr>
              <a:lnSpc>
                <a:spcPct val="120000"/>
              </a:lnSpc>
              <a:buFont typeface="+mj-lt"/>
              <a:buAutoNum type="arabicPeriod"/>
            </a:pPr>
            <a:r>
              <a:rPr lang="en-US" sz="1200" u="sng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Mature Problem Management &amp; RCA Discipline</a:t>
            </a:r>
            <a:r>
              <a:rPr lang="en-US" sz="12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: Systematic elimination of recurring incidents and improved system stability</a:t>
            </a:r>
          </a:p>
          <a:p>
            <a:pPr>
              <a:lnSpc>
                <a:spcPct val="120000"/>
              </a:lnSpc>
              <a:buFont typeface="+mj-lt"/>
              <a:buAutoNum type="arabicPeriod"/>
            </a:pPr>
            <a:r>
              <a:rPr lang="en-US" sz="1200" u="sng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Unified Observability &amp; Proactive Monitoring</a:t>
            </a:r>
            <a:r>
              <a:rPr lang="en-US" sz="12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: High-quality alerting, event correlation, and faster issue detection</a:t>
            </a:r>
          </a:p>
          <a:p>
            <a:pPr>
              <a:lnSpc>
                <a:spcPct val="120000"/>
              </a:lnSpc>
              <a:buFont typeface="+mj-lt"/>
              <a:buAutoNum type="arabicPeriod"/>
            </a:pPr>
            <a:r>
              <a:rPr lang="en-US" sz="1200" u="sng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Controlled Change &amp; Release Governance</a:t>
            </a:r>
            <a:r>
              <a:rPr lang="en-US" sz="12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: Strong CAB processes, improved change success rate, and reduced production risk</a:t>
            </a:r>
          </a:p>
          <a:p>
            <a:pPr>
              <a:lnSpc>
                <a:spcPct val="120000"/>
              </a:lnSpc>
              <a:buFont typeface="+mj-lt"/>
              <a:buAutoNum type="arabicPeriod"/>
            </a:pPr>
            <a:r>
              <a:rPr lang="en-US" sz="1200" u="sng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Accountable Vendor &amp; AMS Ecosystem</a:t>
            </a:r>
            <a:r>
              <a:rPr lang="en-US" sz="12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: SLA/KPI-driven performance management and clear ownership boundaries</a:t>
            </a:r>
          </a:p>
          <a:p>
            <a:pPr>
              <a:lnSpc>
                <a:spcPct val="120000"/>
              </a:lnSpc>
              <a:buFont typeface="+mj-lt"/>
              <a:buAutoNum type="arabicPeriod"/>
            </a:pPr>
            <a:r>
              <a:rPr lang="en-US" sz="1200" u="sng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Real-Time Operational Visibility &amp; Reporting</a:t>
            </a:r>
            <a:r>
              <a:rPr lang="en-US" sz="12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: Executive dashboards, business impact reporting, and data-driven decision-making</a:t>
            </a:r>
          </a:p>
          <a:p>
            <a:pPr>
              <a:buFont typeface="+mj-lt"/>
              <a:buAutoNum type="arabicPeriod"/>
            </a:pPr>
            <a:endParaRPr lang="en-US" sz="1200" dirty="0">
              <a:solidFill>
                <a:schemeClr val="tx1">
                  <a:alpha val="80000"/>
                </a:schemeClr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indent="0" algn="ctr">
              <a:buNone/>
            </a:pPr>
            <a:r>
              <a:rPr lang="en-US" sz="1200" u="sng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Execution Approach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Prioritize high-impact gaps using incident data, RCA insights, and business impact analysis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Execute improvements through 90-day roadmap and governance model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Track progress through KPIs, maturity scoring, and operational reviews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Continuously refine through feedback loops and performance analytics</a:t>
            </a:r>
          </a:p>
          <a:p>
            <a:pPr marL="228600" indent="-228600">
              <a:buFont typeface="+mj-lt"/>
              <a:buAutoNum type="arabicPeriod"/>
            </a:pPr>
            <a:endParaRPr lang="en-US" sz="1200" dirty="0">
              <a:solidFill>
                <a:schemeClr val="tx1">
                  <a:alpha val="80000"/>
                </a:schemeClr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indent="0" algn="ctr">
              <a:buNone/>
            </a:pPr>
            <a:r>
              <a:rPr lang="en-US" sz="1200" u="sng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Transformation Outcomes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Reduced MTTR and incident volume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Improved system availability and service reliability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Increased change success rate and operational stability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Stronger vendor accountability and service delivery consistency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Enhanced business confidence in IT Operations performance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53C6A8F3-BDDA-E9B7-3BC0-40DBE542691C}"/>
              </a:ext>
            </a:extLst>
          </p:cNvPr>
          <p:cNvSpPr txBox="1"/>
          <p:nvPr/>
        </p:nvSpPr>
        <p:spPr>
          <a:xfrm>
            <a:off x="257543" y="1447072"/>
            <a:ext cx="4056915" cy="48647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lang="en-US" sz="1400" dirty="0">
              <a:solidFill>
                <a:prstClr val="black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2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Operational / Tactical Execution </a:t>
            </a:r>
          </a:p>
          <a:p>
            <a:pPr marL="0" marR="0" lvl="0" indent="0" algn="ctr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en-US" sz="11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indent="0" algn="ctr">
              <a:lnSpc>
                <a:spcPct val="90000"/>
              </a:lnSpc>
              <a:buNone/>
              <a:defRPr/>
            </a:pPr>
            <a:r>
              <a:rPr kumimoji="0" lang="en-US" sz="1200" i="0" u="sng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Typical Challenges</a:t>
            </a:r>
          </a:p>
          <a:p>
            <a:pPr marL="0" indent="0" algn="ctr">
              <a:lnSpc>
                <a:spcPct val="90000"/>
              </a:lnSpc>
              <a:buNone/>
              <a:defRPr/>
            </a:pPr>
            <a:endParaRPr kumimoji="0" lang="en-US" sz="1200" i="0" u="sng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228600" indent="-228600">
              <a:buFont typeface="+mj-lt"/>
              <a:buAutoNum type="arabicPeriod"/>
              <a:defRPr/>
            </a:pPr>
            <a:r>
              <a:rPr kumimoji="0" lang="en-US" sz="1200" i="0" u="sng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Reactive Incident Management</a:t>
            </a:r>
            <a:r>
              <a:rPr kumimoji="0" lang="en-US" sz="1200" i="0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: Inconsistent response, unclear ownership, and extended MTTR</a:t>
            </a:r>
          </a:p>
          <a:p>
            <a:pPr marL="228600" indent="-228600">
              <a:buFont typeface="+mj-lt"/>
              <a:buAutoNum type="arabicPeriod"/>
              <a:defRPr/>
            </a:pPr>
            <a:r>
              <a:rPr kumimoji="0" lang="en-US" sz="1200" i="0" u="sng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Limited Problem Management Discipline</a:t>
            </a:r>
            <a:r>
              <a:rPr kumimoji="0" lang="en-US" sz="1200" i="0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: Recurring incidents with insufficient root cause elimination</a:t>
            </a:r>
          </a:p>
          <a:p>
            <a:pPr marL="228600" indent="-228600">
              <a:buFont typeface="+mj-lt"/>
              <a:buAutoNum type="arabicPeriod"/>
              <a:defRPr/>
            </a:pPr>
            <a:r>
              <a:rPr kumimoji="0" lang="en-US" sz="1200" i="0" u="sng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Fragmented Monitoring &amp; Alerting</a:t>
            </a:r>
            <a:r>
              <a:rPr kumimoji="0" lang="en-US" sz="1200" i="0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: High noise levels, poor signal quality, and delayed detection</a:t>
            </a:r>
          </a:p>
          <a:p>
            <a:pPr marL="228600" indent="-228600">
              <a:buFont typeface="+mj-lt"/>
              <a:buAutoNum type="arabicPeriod"/>
              <a:defRPr/>
            </a:pPr>
            <a:r>
              <a:rPr kumimoji="0" lang="en-US" sz="1200" i="0" u="sng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Inconsistent Change &amp; Release Governance</a:t>
            </a:r>
            <a:r>
              <a:rPr kumimoji="0" lang="en-US" sz="1200" i="0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: Higher risk of change-related incidents and production instability</a:t>
            </a:r>
          </a:p>
          <a:p>
            <a:pPr marL="228600" indent="-228600">
              <a:buFont typeface="+mj-lt"/>
              <a:buAutoNum type="arabicPeriod"/>
              <a:defRPr/>
            </a:pPr>
            <a:r>
              <a:rPr kumimoji="0" lang="en-US" sz="1200" i="0" u="sng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Vendor-Driven Execution Without Accountability</a:t>
            </a:r>
            <a:r>
              <a:rPr kumimoji="0" lang="en-US" sz="1200" i="0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: Limited SLA/KPI enforcement and unclear ownership boundaries</a:t>
            </a:r>
          </a:p>
          <a:p>
            <a:pPr marL="228600" indent="-228600">
              <a:buFont typeface="+mj-lt"/>
              <a:buAutoNum type="arabicPeriod"/>
              <a:defRPr/>
            </a:pPr>
            <a:r>
              <a:rPr kumimoji="0" lang="en-US" sz="1200" i="0" u="sng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Limited Operational Visibility</a:t>
            </a:r>
            <a:r>
              <a:rPr kumimoji="0" lang="en-US" sz="1200" i="0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: Incomplete dashboards, lack of real-time insights, and weak executive reporting</a:t>
            </a:r>
          </a:p>
        </p:txBody>
      </p:sp>
    </p:spTree>
    <p:extLst>
      <p:ext uri="{BB962C8B-B14F-4D97-AF65-F5344CB8AC3E}">
        <p14:creationId xmlns:p14="http://schemas.microsoft.com/office/powerpoint/2010/main" val="31873603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FE0E87-1488-EB7C-32E2-ED7E15B55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6042214C-33C6-4A72-D52B-D5D04DF2A6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-5705"/>
            <a:ext cx="9143993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745884A-ACCA-DF11-628A-9B9CE7A22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9143992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78B6CE4-D51A-8116-A988-89F2EF3418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638" y="2010758"/>
            <a:ext cx="34289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15F122B8-0733-5E20-98DB-840B807F6E6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867638" y="637762"/>
            <a:ext cx="7416372" cy="900131"/>
          </a:xfrm>
        </p:spPr>
        <p:txBody>
          <a:bodyPr anchor="t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2700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Execution Roadmap | First 90 Days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81CD6D3E-A313-94B7-E524-03479F445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5814BAE4-A5F9-CF18-D028-A238F1E66F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177" y="2768161"/>
            <a:ext cx="9071640" cy="2653609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A5BA5265-184A-F646-507E-3ABA2F1380A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51491" y="-3428"/>
            <a:ext cx="1200150" cy="1190625"/>
          </a:xfrm>
          <a:prstGeom prst="rect">
            <a:avLst/>
          </a:prstGeom>
        </p:spPr>
      </p:pic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74D954BF-2F6A-9C17-DE70-D1C50F046F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0" y="1476665"/>
            <a:ext cx="4571999" cy="5169359"/>
          </a:xfrm>
        </p:spPr>
        <p:txBody>
          <a:bodyPr anchor="ctr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200" u="sng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Strategic Alignment &amp; Forward-Looking Recommendations</a:t>
            </a:r>
          </a:p>
          <a:p>
            <a:pPr marL="0" indent="0" algn="ctr">
              <a:lnSpc>
                <a:spcPct val="90000"/>
              </a:lnSpc>
              <a:buNone/>
            </a:pPr>
            <a:endParaRPr lang="en-US" sz="10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indent="0" algn="ctr">
              <a:lnSpc>
                <a:spcPct val="90000"/>
              </a:lnSpc>
              <a:buNone/>
            </a:pPr>
            <a:r>
              <a:rPr lang="en-US" sz="1100" b="1" u="sng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60–90 Days | Optimize &amp; Scale</a:t>
            </a:r>
          </a:p>
          <a:p>
            <a:pPr marL="0" indent="0">
              <a:buNone/>
            </a:pP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Objective: Drive measurable improvements and long-term operational maturity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Launch Problem Management discipline with structured RCA and repeat incident reduction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Achieve measurable improvements in MTTR, incident volume, and service stability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Implement automation for incident response and operational workflows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Establish operational cadence (daily ops reviews, weekly incident reviews, monthly performance reporting)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Define and begin executing long-term IT Operations maturity roadmap (6–12–24 months)</a:t>
            </a:r>
          </a:p>
          <a:p>
            <a:pPr marL="228600" indent="-228600">
              <a:lnSpc>
                <a:spcPct val="90000"/>
              </a:lnSpc>
              <a:buFont typeface="+mj-lt"/>
              <a:buAutoNum type="arabicPeriod"/>
            </a:pPr>
            <a:endParaRPr lang="en-US" sz="11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indent="0" algn="ctr">
              <a:lnSpc>
                <a:spcPct val="90000"/>
              </a:lnSpc>
              <a:buNone/>
            </a:pPr>
            <a:r>
              <a:rPr lang="en-US" sz="1100" b="1" u="sng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Expected Outcomes (First 90 Days)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Improved service reliability and incident response performance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Increased operational visibility through dashboards and reporting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Stronger vendor accountability and service delivery consistency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Reduced incident noise and faster response times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Clear foundation for scalable, high-performing IT Operations model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976B16F6-3759-14D6-EC6E-59738A11004A}"/>
              </a:ext>
            </a:extLst>
          </p:cNvPr>
          <p:cNvSpPr txBox="1">
            <a:spLocks/>
          </p:cNvSpPr>
          <p:nvPr/>
        </p:nvSpPr>
        <p:spPr>
          <a:xfrm>
            <a:off x="114300" y="1557350"/>
            <a:ext cx="4457700" cy="53477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75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lang="en-US" sz="1400" dirty="0">
              <a:solidFill>
                <a:prstClr val="black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en-US" sz="14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marR="0" lvl="0" indent="0" algn="ctr" fontAlgn="auto">
              <a:lnSpc>
                <a:spcPct val="90000"/>
              </a:lnSpc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lang="en-US" sz="2500" u="sng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Operational / Tactical Execution</a:t>
            </a:r>
          </a:p>
          <a:p>
            <a:pPr marR="0" lvl="0" algn="l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kumimoji="0" lang="en-US" sz="14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23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0–30 Days | Assess &amp; Align</a:t>
            </a:r>
          </a:p>
          <a:p>
            <a:pPr marL="0" marR="0" lvl="0" indent="0" defTabSz="457200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Objective: Establish visibility, alignment, and baseline understanding</a:t>
            </a:r>
          </a:p>
          <a:p>
            <a:pPr marL="228600" marR="0" lvl="0" indent="-228600" defTabSz="457200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Conduct IT Operations maturity assessment across Incident, Problem, Change, and Service Transition</a:t>
            </a:r>
          </a:p>
          <a:p>
            <a:pPr marL="228600" marR="0" lvl="0" indent="-228600" defTabSz="457200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Identify critical gaps in service reliability, monitoring, and vendor performance</a:t>
            </a:r>
          </a:p>
          <a:p>
            <a:pPr marL="228600" marR="0" lvl="0" indent="-228600" defTabSz="457200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Review current SLA/KPI performance, incident trends, and system availability</a:t>
            </a:r>
          </a:p>
          <a:p>
            <a:pPr marL="228600" marR="0" lvl="0" indent="-228600" defTabSz="457200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Establish stakeholder alignment across IT, engineering, security, and business teams</a:t>
            </a:r>
          </a:p>
          <a:p>
            <a:pPr marL="228600" marR="0" lvl="0" indent="-228600" defTabSz="457200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Validate current escalation models, on-call structure, and support coverage</a:t>
            </a:r>
          </a:p>
          <a:p>
            <a:pPr marL="228600" marR="0" lvl="0" indent="-228600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lang="en-US" sz="1200" dirty="0">
              <a:solidFill>
                <a:prstClr val="black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en-US" sz="12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23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30–60 Days | Stabilize &amp; Implement</a:t>
            </a:r>
          </a:p>
          <a:p>
            <a:pPr marL="0" marR="0" lvl="0" indent="0" defTabSz="457200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Objective: Improve operational control, consistency, and visibility</a:t>
            </a:r>
          </a:p>
          <a:p>
            <a:pPr marL="228600" marR="0" lvl="0" indent="-228600" defTabSz="457200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Standardize Incident Management execution (SEV model, Incident Commander, war room process)</a:t>
            </a:r>
          </a:p>
          <a:p>
            <a:pPr marL="228600" marR="0" lvl="0" indent="-228600" defTabSz="457200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Implement real-time KPI dashboards (MTTR, SLA adherence, incident volume, uptime)</a:t>
            </a:r>
          </a:p>
          <a:p>
            <a:pPr marL="228600" marR="0" lvl="0" indent="-228600" defTabSz="457200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Establish vendor/AMS governance model with defined SLAs, KPIs, and service reviews</a:t>
            </a:r>
          </a:p>
          <a:p>
            <a:pPr marL="228600" marR="0" lvl="0" indent="-228600" defTabSz="457200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Improve monitoring and alerting quality to reduce noise and improve response time</a:t>
            </a:r>
          </a:p>
          <a:p>
            <a:pPr marL="228600" marR="0" lvl="0" indent="-228600" defTabSz="457200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Begin enforcement of Change Enablement (CAB) and release governance processes</a:t>
            </a:r>
          </a:p>
        </p:txBody>
      </p:sp>
    </p:spTree>
    <p:extLst>
      <p:ext uri="{BB962C8B-B14F-4D97-AF65-F5344CB8AC3E}">
        <p14:creationId xmlns:p14="http://schemas.microsoft.com/office/powerpoint/2010/main" val="10601378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D1CC79-E99E-92EE-7D70-D8BF0B4C72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A3B45EE-D197-2E39-F094-132BCBF3F2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-5705"/>
            <a:ext cx="9143993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8A290AB-0A20-07CD-5233-2E01531EC2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9143992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E04B601-C284-2E08-0F18-4D3B85471F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638" y="2010758"/>
            <a:ext cx="34289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58DF0BE-5620-2472-31FD-FAE9B3F72A6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867638" y="637762"/>
            <a:ext cx="7416372" cy="900131"/>
          </a:xfrm>
        </p:spPr>
        <p:txBody>
          <a:bodyPr anchor="t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2700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IT Operations Operating Model &amp; Governance 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A32BDCE9-6E9A-6D63-C401-BAF83E59B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6A070207-DC47-AEE1-1913-4C72C7B5EA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177" y="2768161"/>
            <a:ext cx="9071640" cy="2653609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F815BF6F-DE15-906A-C825-41DF355A672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51491" y="-3428"/>
            <a:ext cx="1200150" cy="1190625"/>
          </a:xfrm>
          <a:prstGeom prst="rect">
            <a:avLst/>
          </a:prstGeom>
        </p:spPr>
      </p:pic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09DB716D-DE42-C3D8-ED57-7FC7F10E8E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0" y="1688641"/>
            <a:ext cx="4571999" cy="5169359"/>
          </a:xfrm>
        </p:spPr>
        <p:txBody>
          <a:bodyPr anchor="ctr">
            <a:normAutofit fontScale="62500" lnSpcReduction="20000"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700" u="sng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Strategic Alignment &amp; Forward-Looking Recommendations</a:t>
            </a:r>
          </a:p>
          <a:p>
            <a:pPr marL="0" indent="0" algn="ctr">
              <a:lnSpc>
                <a:spcPct val="90000"/>
              </a:lnSpc>
              <a:buNone/>
            </a:pPr>
            <a:endParaRPr lang="en-US" sz="10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indent="0" algn="ctr">
              <a:lnSpc>
                <a:spcPct val="90000"/>
              </a:lnSpc>
              <a:buNone/>
            </a:pPr>
            <a:r>
              <a:rPr lang="en-US" sz="1400" b="1" u="sng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Service Ownership &amp; Accountability Model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3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Define clear ownership across all IT Operations functions to ensure accountability and execution.</a:t>
            </a:r>
          </a:p>
          <a:p>
            <a:pPr marL="228600" indent="-228600">
              <a:lnSpc>
                <a:spcPct val="90000"/>
              </a:lnSpc>
              <a:buFont typeface="+mj-lt"/>
              <a:buAutoNum type="arabicPeriod"/>
            </a:pPr>
            <a:r>
              <a:rPr lang="en-US" sz="13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Assign end-to-end service ownership across infrastructure, applications, and end-user services</a:t>
            </a:r>
          </a:p>
          <a:p>
            <a:pPr marL="228600" indent="-228600">
              <a:lnSpc>
                <a:spcPct val="90000"/>
              </a:lnSpc>
              <a:buFont typeface="+mj-lt"/>
              <a:buAutoNum type="arabicPeriod"/>
            </a:pPr>
            <a:r>
              <a:rPr lang="en-US" sz="13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Define ownership across Incident, Problem, Change, and Service Transition</a:t>
            </a:r>
          </a:p>
          <a:p>
            <a:pPr marL="228600" indent="-228600">
              <a:lnSpc>
                <a:spcPct val="90000"/>
              </a:lnSpc>
              <a:buFont typeface="+mj-lt"/>
              <a:buAutoNum type="arabicPeriod"/>
            </a:pPr>
            <a:r>
              <a:rPr lang="en-US" sz="13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Establish clear RACI model (Responsible, Accountable, Consulted, Informed) for all operational processes</a:t>
            </a:r>
          </a:p>
          <a:p>
            <a:pPr marL="228600" indent="-228600">
              <a:lnSpc>
                <a:spcPct val="90000"/>
              </a:lnSpc>
              <a:buFont typeface="+mj-lt"/>
              <a:buAutoNum type="arabicPeriod"/>
            </a:pPr>
            <a:r>
              <a:rPr lang="en-US" sz="13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Ensure accountability for service performance, reliability, and business impact</a:t>
            </a:r>
          </a:p>
          <a:p>
            <a:pPr marL="0" indent="0">
              <a:lnSpc>
                <a:spcPct val="90000"/>
              </a:lnSpc>
              <a:buNone/>
            </a:pPr>
            <a:endParaRPr lang="en-US" sz="11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indent="0" algn="ctr">
              <a:lnSpc>
                <a:spcPct val="90000"/>
              </a:lnSpc>
              <a:buNone/>
            </a:pPr>
            <a:r>
              <a:rPr lang="en-US" sz="1400" b="1" u="sng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Incident Command &amp; Escalation Model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3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Establish a structured, repeatable model for managing production incidents.</a:t>
            </a:r>
          </a:p>
          <a:p>
            <a:pPr marL="228600" indent="-228600">
              <a:lnSpc>
                <a:spcPct val="90000"/>
              </a:lnSpc>
              <a:buFont typeface="+mj-lt"/>
              <a:buAutoNum type="arabicPeriod"/>
            </a:pPr>
            <a:r>
              <a:rPr lang="en-US" sz="13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Implement formal Incident Commander role for SEV1/SEV2 events</a:t>
            </a:r>
          </a:p>
          <a:p>
            <a:pPr marL="228600" indent="-228600">
              <a:lnSpc>
                <a:spcPct val="90000"/>
              </a:lnSpc>
              <a:buFont typeface="+mj-lt"/>
              <a:buAutoNum type="arabicPeriod"/>
            </a:pPr>
            <a:r>
              <a:rPr lang="en-US" sz="13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Define severity-based escalation model (SEV1–SEV4) with clear ownership</a:t>
            </a:r>
          </a:p>
          <a:p>
            <a:pPr marL="228600" indent="-228600">
              <a:lnSpc>
                <a:spcPct val="90000"/>
              </a:lnSpc>
              <a:buFont typeface="+mj-lt"/>
              <a:buAutoNum type="arabicPeriod"/>
            </a:pPr>
            <a:r>
              <a:rPr lang="en-US" sz="13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Standardize war room execution, including roles, communication, and timelines</a:t>
            </a:r>
          </a:p>
          <a:p>
            <a:pPr marL="228600" indent="-228600">
              <a:lnSpc>
                <a:spcPct val="90000"/>
              </a:lnSpc>
              <a:buFont typeface="+mj-lt"/>
              <a:buAutoNum type="arabicPeriod"/>
            </a:pPr>
            <a:r>
              <a:rPr lang="en-US" sz="13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Ensure rapid escalation and coordination across IT, engineering, vendors, and business stakeholders</a:t>
            </a:r>
          </a:p>
          <a:p>
            <a:pPr marL="0" indent="0">
              <a:lnSpc>
                <a:spcPct val="90000"/>
              </a:lnSpc>
              <a:buNone/>
            </a:pPr>
            <a:endParaRPr lang="en-US" sz="13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indent="0" algn="ctr">
              <a:lnSpc>
                <a:spcPct val="90000"/>
              </a:lnSpc>
              <a:buNone/>
            </a:pPr>
            <a:r>
              <a:rPr lang="en-US" sz="1400" b="1" u="sng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Governance Framework &amp; Operational Controls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3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Implement governance mechanisms to ensure consistency, control, and risk management.</a:t>
            </a:r>
          </a:p>
          <a:p>
            <a:pPr marL="228600" indent="-228600">
              <a:lnSpc>
                <a:spcPct val="90000"/>
              </a:lnSpc>
              <a:buFont typeface="+mj-lt"/>
              <a:buAutoNum type="arabicPeriod"/>
            </a:pPr>
            <a:r>
              <a:rPr lang="en-US" sz="13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Establish Change Enablement (CAB/ECAB) and release governance processes</a:t>
            </a:r>
          </a:p>
          <a:p>
            <a:pPr marL="228600" indent="-228600">
              <a:lnSpc>
                <a:spcPct val="90000"/>
              </a:lnSpc>
              <a:buFont typeface="+mj-lt"/>
              <a:buAutoNum type="arabicPeriod"/>
            </a:pPr>
            <a:r>
              <a:rPr lang="en-US" sz="13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Enforce Problem Management (RCA) and corrective action tracking</a:t>
            </a:r>
          </a:p>
          <a:p>
            <a:pPr marL="228600" indent="-228600">
              <a:lnSpc>
                <a:spcPct val="90000"/>
              </a:lnSpc>
              <a:buFont typeface="+mj-lt"/>
              <a:buAutoNum type="arabicPeriod"/>
            </a:pPr>
            <a:r>
              <a:rPr lang="en-US" sz="13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Maintain CMDB and asset management for impact analysis and audit readiness</a:t>
            </a:r>
          </a:p>
          <a:p>
            <a:pPr marL="228600" indent="-228600">
              <a:lnSpc>
                <a:spcPct val="90000"/>
              </a:lnSpc>
              <a:buFont typeface="+mj-lt"/>
              <a:buAutoNum type="arabicPeriod"/>
            </a:pPr>
            <a:r>
              <a:rPr lang="en-US" sz="13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Define and enforce operational standards and compliance requirements</a:t>
            </a:r>
          </a:p>
          <a:p>
            <a:pPr marL="228600" indent="-228600">
              <a:lnSpc>
                <a:spcPct val="90000"/>
              </a:lnSpc>
              <a:buFont typeface="+mj-lt"/>
              <a:buAutoNum type="arabicPeriod"/>
            </a:pPr>
            <a:endParaRPr lang="en-US" sz="10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indent="0" algn="ctr">
              <a:lnSpc>
                <a:spcPct val="90000"/>
              </a:lnSpc>
              <a:buNone/>
            </a:pPr>
            <a:r>
              <a:rPr lang="en-US" sz="1400" b="1" u="sng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Operational Cadence &amp; Execution Rhythm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3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Create a consistent operating rhythm to drive execution, accountability, and continuous improvement.</a:t>
            </a:r>
          </a:p>
          <a:p>
            <a:pPr marL="228600" indent="-228600">
              <a:lnSpc>
                <a:spcPct val="90000"/>
              </a:lnSpc>
              <a:buFont typeface="+mj-lt"/>
              <a:buAutoNum type="arabicPeriod"/>
            </a:pPr>
            <a:r>
              <a:rPr lang="en-US" sz="13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Daily: System health checks, and active risk assessment</a:t>
            </a:r>
          </a:p>
          <a:p>
            <a:pPr marL="228600" indent="-228600">
              <a:lnSpc>
                <a:spcPct val="90000"/>
              </a:lnSpc>
              <a:buFont typeface="+mj-lt"/>
              <a:buAutoNum type="arabicPeriod"/>
            </a:pPr>
            <a:r>
              <a:rPr lang="en-US" sz="13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Weekly: Incident trends, RCA progress, vendor performance, and operational improvements</a:t>
            </a:r>
          </a:p>
          <a:p>
            <a:pPr marL="228600" indent="-228600">
              <a:lnSpc>
                <a:spcPct val="90000"/>
              </a:lnSpc>
              <a:buFont typeface="+mj-lt"/>
              <a:buAutoNum type="arabicPeriod"/>
            </a:pPr>
            <a:r>
              <a:rPr lang="en-US" sz="13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Monthly: KPI performance (MTTR, SLA adherence, uptime), risk assessment, and improvement roadmap</a:t>
            </a:r>
          </a:p>
          <a:p>
            <a:pPr marL="228600" indent="-228600">
              <a:lnSpc>
                <a:spcPct val="90000"/>
              </a:lnSpc>
              <a:buFont typeface="+mj-lt"/>
              <a:buAutoNum type="arabicPeriod"/>
            </a:pPr>
            <a:r>
              <a:rPr lang="en-US" sz="13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Quarterly: Maturity assessment, investment priorities, and long-term planning</a:t>
            </a:r>
          </a:p>
          <a:p>
            <a:pPr marL="0" indent="0">
              <a:buNone/>
            </a:pPr>
            <a:endParaRPr lang="en-US" sz="10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indent="0" algn="ctr">
              <a:buNone/>
            </a:pPr>
            <a:r>
              <a:rPr lang="en-US" sz="1400" b="1" u="sng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Vendor &amp; AMS Integration Model</a:t>
            </a:r>
          </a:p>
          <a:p>
            <a:pPr marL="0" indent="0">
              <a:buNone/>
            </a:pPr>
            <a:r>
              <a:rPr lang="en-US" sz="13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Ensure seamless integration and accountability of external service providers.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3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Define clear ownership boundaries between internal teams and vendors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3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Enforce SLA/KPI governance and performance accountability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3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Conduct structured vendor service reviews and escalation management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3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Align vendor performance to business outcomes and service reliability targets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7BF57AE1-CA9E-6FEE-ADB8-B6C0D79723F7}"/>
              </a:ext>
            </a:extLst>
          </p:cNvPr>
          <p:cNvSpPr txBox="1">
            <a:spLocks/>
          </p:cNvSpPr>
          <p:nvPr/>
        </p:nvSpPr>
        <p:spPr>
          <a:xfrm>
            <a:off x="381154" y="1195412"/>
            <a:ext cx="3845859" cy="53477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lang="en-US" sz="1400" dirty="0">
              <a:solidFill>
                <a:prstClr val="black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en-US" sz="14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marR="0" lvl="0" indent="0" algn="ctr" fontAlgn="auto">
              <a:lnSpc>
                <a:spcPct val="90000"/>
              </a:lnSpc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lang="en-US" sz="1400" u="sng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Operational / Tactical Execution</a:t>
            </a:r>
          </a:p>
          <a:p>
            <a:pPr marL="0" marR="0" lvl="0" indent="0" algn="ctr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en-US" sz="130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120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Ownership Execution</a:t>
            </a:r>
          </a:p>
          <a:p>
            <a:pPr marL="0" marR="0" lvl="0" indent="0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Maintain clear accountability across all services and ITSM processes</a:t>
            </a:r>
          </a:p>
          <a:p>
            <a:pPr marL="0" marR="0" lvl="0" indent="0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lang="en-US" sz="1200" dirty="0">
              <a:solidFill>
                <a:prstClr val="black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120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Incident &amp; Escalation Execution</a:t>
            </a:r>
          </a:p>
          <a:p>
            <a:pPr marL="0" marR="0" lvl="0" indent="0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1200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Execute structured incident command and escalation protocols</a:t>
            </a:r>
            <a:endParaRPr lang="en-US" sz="1200" dirty="0">
              <a:solidFill>
                <a:prstClr val="black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marR="0" lvl="0" indent="0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en-US" sz="1200" i="0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120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Governance Execution</a:t>
            </a:r>
            <a:endParaRPr lang="en-US" sz="1200" u="sng" dirty="0">
              <a:solidFill>
                <a:prstClr val="black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marR="0" lvl="0" indent="0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1200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Enforce CAB, RCA, CMDB, and operational compliance standards</a:t>
            </a:r>
          </a:p>
          <a:p>
            <a:pPr marL="0" marR="0" lvl="0" indent="0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lang="en-US" sz="1200" dirty="0">
              <a:solidFill>
                <a:prstClr val="black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120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Cadence Execution</a:t>
            </a:r>
          </a:p>
          <a:p>
            <a:pPr marL="0" marR="0" lvl="0" indent="0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1200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Conduct daily, weekly, monthly, and quarterly operational reviews</a:t>
            </a:r>
            <a:endParaRPr lang="en-US" sz="1200" dirty="0">
              <a:solidFill>
                <a:prstClr val="black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marR="0" lvl="0" indent="0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en-US" sz="1200" i="0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120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Vendor Management Execution</a:t>
            </a:r>
            <a:endParaRPr lang="en-US" sz="1200" u="sng" dirty="0">
              <a:solidFill>
                <a:prstClr val="black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marR="0" lvl="0" indent="0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1200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Monitor vendor performance, enforce SLAs, and manage escalations</a:t>
            </a:r>
            <a:endParaRPr lang="en-US" sz="1200" noProof="0" dirty="0">
              <a:solidFill>
                <a:prstClr val="black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29322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-5705"/>
            <a:ext cx="9143993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9143992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638" y="2010758"/>
            <a:ext cx="34289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E6557C04-1DF4-A14C-C412-40B6588A8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7638" y="637762"/>
            <a:ext cx="7416372" cy="900131"/>
          </a:xfrm>
        </p:spPr>
        <p:txBody>
          <a:bodyPr anchor="t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2700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Incident and Problem Management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5C4AA6FD-D9D4-07FE-0F64-E2C38AA61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DE152BEF-268B-3825-F954-90CC614A02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177" y="2768161"/>
            <a:ext cx="9071640" cy="2653609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1620BF46-1077-BD34-8D85-D988F65F1C1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51491" y="-3428"/>
            <a:ext cx="1200150" cy="1190625"/>
          </a:xfrm>
          <a:prstGeom prst="rect">
            <a:avLst/>
          </a:prstGeom>
        </p:spPr>
      </p:pic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21B1CAB0-6EED-DD7B-2751-317C623C70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0" y="1688641"/>
            <a:ext cx="4571991" cy="5169359"/>
          </a:xfrm>
        </p:spPr>
        <p:txBody>
          <a:bodyPr anchor="ctr">
            <a:normAutofit fontScale="85000" lnSpcReduction="20000"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400" u="sng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Strategic Alignment &amp; Forward-Looking Recommendations</a:t>
            </a:r>
          </a:p>
          <a:p>
            <a:pPr marL="0" indent="0" algn="ctr">
              <a:lnSpc>
                <a:spcPct val="90000"/>
              </a:lnSpc>
              <a:buNone/>
            </a:pPr>
            <a:endParaRPr lang="en-US" sz="1200" dirty="0">
              <a:solidFill>
                <a:prstClr val="black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11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Major Incident Management (SEV1/SEV2 Execution Model)</a:t>
            </a:r>
          </a:p>
          <a:p>
            <a:pPr marL="0" marR="0" lvl="0" indent="0" defTabSz="457200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Establish a structured, scalable incident management framework focused on rapid service restoration and business impact minimization.</a:t>
            </a:r>
          </a:p>
          <a:p>
            <a:pPr marL="228600" marR="0" lvl="0" indent="-228600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Define severity classification model (SEV1–SEV4) aligned to business impact</a:t>
            </a:r>
          </a:p>
          <a:p>
            <a:pPr marL="228600" marR="0" lvl="0" indent="-228600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Implement formal Incident Commander role with clear ownership of response, coordination, and communication</a:t>
            </a:r>
          </a:p>
          <a:p>
            <a:pPr marL="228600" marR="0" lvl="0" indent="-228600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Standardize war room execution model with defined roles, timelines, and escalation triggers</a:t>
            </a:r>
          </a:p>
          <a:p>
            <a:pPr marL="228600" marR="0" lvl="0" indent="-228600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Drive measurable improvements in MTTD, MTTA, and MTTR </a:t>
            </a:r>
          </a:p>
          <a:p>
            <a:pPr marL="0" marR="0" lvl="0" indent="0" algn="ctr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en-US" sz="11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11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Problem Management &amp; Root Cause Elimination</a:t>
            </a:r>
          </a:p>
          <a:p>
            <a:pPr marL="0" marR="0" lvl="0" indent="0" defTabSz="457200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Elevate Problem Management as a core discipline focused on eliminating recurring incidents and improving system stability.</a:t>
            </a:r>
          </a:p>
          <a:p>
            <a:pPr marL="228600" marR="0" lvl="0" indent="-228600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sz="1100" dirty="0">
                <a:solidFill>
                  <a:prstClr val="black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Enforce structured Root Cause Analysis (RCA) for all high-impact incidents</a:t>
            </a:r>
          </a:p>
          <a:p>
            <a:pPr marL="228600" marR="0" lvl="0" indent="-228600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sz="1100" dirty="0">
                <a:solidFill>
                  <a:prstClr val="black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Track and eliminate repeat incidents through trend analysis and corrective actions</a:t>
            </a:r>
          </a:p>
          <a:p>
            <a:pPr marL="228600" marR="0" lvl="0" indent="-228600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sz="1100" dirty="0">
                <a:solidFill>
                  <a:prstClr val="black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Maintain Known Error Database (KEDB) to accelerate resolution and reduce incident volume</a:t>
            </a:r>
          </a:p>
          <a:p>
            <a:pPr marL="228600" marR="0" lvl="0" indent="-228600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sz="1100" dirty="0">
                <a:solidFill>
                  <a:prstClr val="black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Establish accountability for permanent fixes vs temporary workarounds</a:t>
            </a:r>
          </a:p>
          <a:p>
            <a:pPr marL="228600" marR="0" lvl="0" indent="-228600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lang="en-US" sz="1100" dirty="0">
              <a:solidFill>
                <a:prstClr val="black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lang="en-US" sz="1100" b="1" u="sng" dirty="0">
                <a:solidFill>
                  <a:prstClr val="black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Integrated Change &amp; Incident Lifecycle</a:t>
            </a:r>
          </a:p>
          <a:p>
            <a:pPr marL="0" marR="0" lvl="0" indent="0" defTabSz="457200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lang="en-US" sz="1100" dirty="0">
                <a:solidFill>
                  <a:prstClr val="black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Ensure strong alignment between Incident, Problem, and Change Management to reduce operational risk.</a:t>
            </a:r>
          </a:p>
          <a:p>
            <a:pPr marL="228600" marR="0" lvl="0" indent="-228600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sz="1100" dirty="0">
                <a:solidFill>
                  <a:prstClr val="black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Link RCA outputs directly to Change Management for permanent resolution</a:t>
            </a:r>
          </a:p>
          <a:p>
            <a:pPr marL="228600" marR="0" lvl="0" indent="-228600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sz="1100" dirty="0">
                <a:solidFill>
                  <a:prstClr val="black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Implement Change Enablement (CAB/ECAB) processes to prevent incident reoccurrence</a:t>
            </a:r>
          </a:p>
          <a:p>
            <a:pPr marL="228600" marR="0" lvl="0" indent="-228600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sz="1100" dirty="0">
                <a:solidFill>
                  <a:prstClr val="black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Introduce post-change validation and monitoring to ensure stability</a:t>
            </a:r>
          </a:p>
          <a:p>
            <a:pPr marL="228600" marR="0" lvl="0" indent="-228600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sz="1100" dirty="0">
                <a:solidFill>
                  <a:prstClr val="black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Reduce change-related incidents through improved release governance</a:t>
            </a:r>
          </a:p>
          <a:p>
            <a:pPr marL="228600" marR="0" lvl="0" indent="-228600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lang="en-US" sz="1100" dirty="0">
              <a:solidFill>
                <a:prstClr val="black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lang="en-US" sz="1100" b="1" u="sng" dirty="0">
                <a:solidFill>
                  <a:prstClr val="black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Stakeholder-Centric Communication &amp; Transparency</a:t>
            </a:r>
          </a:p>
          <a:p>
            <a:pPr marL="0" marR="0" lvl="0" indent="0" defTabSz="457200" rtl="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lang="en-US" sz="1100" dirty="0">
                <a:solidFill>
                  <a:prstClr val="black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Provide clear, structured, and role-based communication during incidents to maintain stakeholder trust.</a:t>
            </a:r>
          </a:p>
          <a:p>
            <a:pPr marL="228600" marR="0" lvl="0" indent="-228600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sz="1100" dirty="0">
                <a:solidFill>
                  <a:prstClr val="black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Deliver real-time incident updates aligned to business impact and audience needs</a:t>
            </a:r>
          </a:p>
          <a:p>
            <a:pPr marL="228600" marR="0" lvl="0" indent="-228600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sz="1100" dirty="0">
                <a:solidFill>
                  <a:prstClr val="black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Standardize incident summaries, timelines, and executive reporting</a:t>
            </a:r>
          </a:p>
          <a:p>
            <a:pPr marL="228600" marR="0" lvl="0" indent="-228600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sz="1100" dirty="0">
                <a:solidFill>
                  <a:prstClr val="black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Automate status communication and reporting dashboards</a:t>
            </a:r>
          </a:p>
          <a:p>
            <a:pPr marL="228600" marR="0" lvl="0" indent="-228600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sz="1100" dirty="0">
                <a:solidFill>
                  <a:prstClr val="black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Ensure transparency across business, technical, and leadership stakeholders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E133101B-E89D-B1E2-8E06-D6F83935E2AB}"/>
              </a:ext>
            </a:extLst>
          </p:cNvPr>
          <p:cNvSpPr txBox="1"/>
          <p:nvPr/>
        </p:nvSpPr>
        <p:spPr>
          <a:xfrm>
            <a:off x="327354" y="1510285"/>
            <a:ext cx="3922646" cy="51693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lang="en-US" sz="1400" dirty="0">
              <a:solidFill>
                <a:prstClr val="black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4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Operational / Tactical </a:t>
            </a:r>
            <a:r>
              <a:rPr lang="en-US" sz="1400" u="sng" dirty="0">
                <a:solidFill>
                  <a:prstClr val="black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Execution </a:t>
            </a:r>
            <a:endParaRPr kumimoji="0" lang="en-US" sz="14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en-US" sz="12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12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Incident Response Execution</a:t>
            </a:r>
          </a:p>
          <a:p>
            <a:pPr marL="0" marR="0" lvl="0" indent="0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lang="en-US" sz="1200" dirty="0">
                <a:solidFill>
                  <a:prstClr val="black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Real-time alerting, rapid triage, defined escalation paths, and structured war room coordination</a:t>
            </a:r>
          </a:p>
          <a:p>
            <a:pPr marL="0" marR="0" lvl="0" indent="0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lang="en-US" sz="1200" dirty="0">
              <a:solidFill>
                <a:prstClr val="black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lang="en-US" sz="1200" u="sng" dirty="0">
                <a:solidFill>
                  <a:prstClr val="black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MTTR &amp; Incident Reduction Focus</a:t>
            </a:r>
          </a:p>
          <a:p>
            <a:pPr marL="0" marR="0" lvl="0" indent="0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lang="en-US" sz="1200" dirty="0">
                <a:solidFill>
                  <a:prstClr val="black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Continuous improvement of response times and reduction of incident frequency through data-driven analysis</a:t>
            </a:r>
          </a:p>
          <a:p>
            <a:pPr marL="0" marR="0" lvl="0" indent="0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lang="en-US" sz="1200" dirty="0">
              <a:solidFill>
                <a:prstClr val="black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lang="en-US" sz="1200" u="sng" dirty="0">
                <a:solidFill>
                  <a:prstClr val="black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Blameless Postmortems</a:t>
            </a:r>
          </a:p>
          <a:p>
            <a:pPr marL="0" marR="0" lvl="0" indent="0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lang="en-US" sz="1200" dirty="0">
                <a:solidFill>
                  <a:prstClr val="black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Standardized reviews with clear action items, ownership, and timelines for resolution</a:t>
            </a:r>
          </a:p>
          <a:p>
            <a:pPr marL="0" marR="0" lvl="0" indent="0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lang="en-US" sz="1200" dirty="0">
              <a:solidFill>
                <a:prstClr val="black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lang="en-US" sz="1200" u="sng" dirty="0">
                <a:solidFill>
                  <a:prstClr val="black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Incident Trend Analysis &amp; Reporting</a:t>
            </a:r>
          </a:p>
          <a:p>
            <a:pPr marL="0" marR="0" lvl="0" indent="0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lang="en-US" sz="1200" dirty="0">
                <a:solidFill>
                  <a:prstClr val="black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Dashboards tracking MTTA, MTTR, repeat incidents, and business impact metrics</a:t>
            </a:r>
          </a:p>
          <a:p>
            <a:pPr marL="0" marR="0" lvl="0" indent="0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lang="en-US" sz="1200" dirty="0">
              <a:solidFill>
                <a:prstClr val="black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lang="en-US" sz="1200" u="sng" dirty="0">
                <a:solidFill>
                  <a:prstClr val="black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Runbook Standardization</a:t>
            </a:r>
          </a:p>
          <a:p>
            <a:pPr marL="0" marR="0" lvl="0" indent="0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lang="en-US" sz="1200" dirty="0">
                <a:solidFill>
                  <a:prstClr val="black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Predefined response procedures to ensure consistent and efficient incident handling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1B59C6-E121-013F-2EB8-C78A1A82E3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EA9B1B6-0617-A2D9-7C7F-2128315112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-5705"/>
            <a:ext cx="9143993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1F37FBE-D43D-B643-ABB2-223EACC0A7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9143992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277AF50-FDF7-792F-81DB-8CD7141346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638" y="2010758"/>
            <a:ext cx="34289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404F73E8-D534-1671-E528-A3AFCB6B3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7638" y="637762"/>
            <a:ext cx="7416372" cy="900131"/>
          </a:xfrm>
        </p:spPr>
        <p:txBody>
          <a:bodyPr anchor="t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2700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Process Improvement &amp; Change Quality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A5C08D6-58CB-D806-4006-76E48EEF1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5CE1E68-B4DE-B26A-1791-AB1DC61B27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177" y="2768161"/>
            <a:ext cx="9071640" cy="2653609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738420B4-7CF5-9FA1-7178-4148F3375AD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51491" y="-3428"/>
            <a:ext cx="1200150" cy="1190625"/>
          </a:xfrm>
          <a:prstGeom prst="rect">
            <a:avLst/>
          </a:prstGeom>
        </p:spPr>
      </p:pic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9DC02918-3DF1-CD09-2016-A334862C4C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0" y="1688642"/>
            <a:ext cx="4571992" cy="5169358"/>
          </a:xfrm>
        </p:spPr>
        <p:txBody>
          <a:bodyPr anchor="ctr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200" u="sng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Strategic Alignment &amp; Forward-Looking Recommendations</a:t>
            </a:r>
          </a:p>
          <a:p>
            <a:pPr marL="0" indent="0" algn="ctr">
              <a:lnSpc>
                <a:spcPct val="90000"/>
              </a:lnSpc>
              <a:buNone/>
            </a:pPr>
            <a:endParaRPr lang="en-US" sz="1400" u="sng" dirty="0">
              <a:solidFill>
                <a:schemeClr val="tx1">
                  <a:alpha val="80000"/>
                </a:schemeClr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indent="0" algn="ctr">
              <a:lnSpc>
                <a:spcPct val="90000"/>
              </a:lnSpc>
              <a:buNone/>
            </a:pPr>
            <a:r>
              <a:rPr kumimoji="0" lang="en-US" sz="12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Data-Driven Continuous Improvement Framework</a:t>
            </a:r>
          </a:p>
          <a:p>
            <a:pPr marL="0" indent="0">
              <a:lnSpc>
                <a:spcPct val="120000"/>
              </a:lnSpc>
              <a:buNone/>
            </a:pPr>
            <a:r>
              <a:rPr kumimoji="0" lang="en-US" sz="1100" b="0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Establish a structured approach to identify, prioritize, and eliminate operational risks and inefficiencies.</a:t>
            </a:r>
          </a:p>
          <a:p>
            <a:pPr marL="228600" indent="-228600">
              <a:lnSpc>
                <a:spcPct val="90000"/>
              </a:lnSpc>
              <a:buFont typeface="+mj-lt"/>
              <a:buAutoNum type="arabicPeriod"/>
            </a:pPr>
            <a:r>
              <a:rPr kumimoji="0" lang="en-US" sz="1100" b="0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Implement FMEA-based prioritization (RPN scoring). </a:t>
            </a:r>
            <a:r>
              <a:rPr lang="en-US" sz="1100" dirty="0">
                <a:solidFill>
                  <a:prstClr val="black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</a:t>
            </a:r>
            <a:r>
              <a:rPr kumimoji="0" lang="en-US" sz="1100" b="0" i="0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arget</a:t>
            </a:r>
            <a:r>
              <a:rPr kumimoji="0" lang="en-US" sz="1100" b="0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high-impact failure points: FMEA (Severity × Occurrence × Detection = RPN) &amp; single point of failure analysis </a:t>
            </a:r>
          </a:p>
          <a:p>
            <a:pPr marL="228600" indent="-228600">
              <a:lnSpc>
                <a:spcPct val="90000"/>
              </a:lnSpc>
              <a:buFont typeface="+mj-lt"/>
              <a:buAutoNum type="arabicPeriod"/>
            </a:pPr>
            <a:r>
              <a:rPr kumimoji="0" lang="en-US" sz="1100" b="0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Integrate Business Impact Analysis (BIA) to align technical priorities with business risk</a:t>
            </a:r>
          </a:p>
          <a:p>
            <a:pPr marL="228600" indent="-228600">
              <a:lnSpc>
                <a:spcPct val="90000"/>
              </a:lnSpc>
              <a:buFont typeface="+mj-lt"/>
              <a:buAutoNum type="arabicPeriod"/>
            </a:pPr>
            <a:r>
              <a:rPr kumimoji="0" lang="en-US" sz="1100" b="0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Use incident and RCA data to eliminate recurring issues and reduce incident volume</a:t>
            </a:r>
          </a:p>
          <a:p>
            <a:pPr marL="228600" indent="-228600">
              <a:lnSpc>
                <a:spcPct val="90000"/>
              </a:lnSpc>
              <a:buFont typeface="+mj-lt"/>
              <a:buAutoNum type="arabicPeriod"/>
            </a:pPr>
            <a:r>
              <a:rPr kumimoji="0" lang="en-US" sz="1100" b="0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Establish measurable targets for incident reduction, MTTR improvement, and service stability</a:t>
            </a:r>
          </a:p>
          <a:p>
            <a:pPr marL="0" indent="0">
              <a:lnSpc>
                <a:spcPct val="90000"/>
              </a:lnSpc>
              <a:buNone/>
            </a:pPr>
            <a:endParaRPr lang="en-US" sz="1200" dirty="0">
              <a:solidFill>
                <a:prstClr val="black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indent="0" algn="ctr">
              <a:lnSpc>
                <a:spcPct val="90000"/>
              </a:lnSpc>
              <a:buNone/>
            </a:pPr>
            <a:r>
              <a:rPr lang="en-US" sz="1300" b="1" u="sng" dirty="0">
                <a:solidFill>
                  <a:prstClr val="black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Change Quality &amp; Release Optimization</a:t>
            </a:r>
          </a:p>
          <a:p>
            <a:pPr marL="0" indent="0">
              <a:lnSpc>
                <a:spcPct val="120000"/>
              </a:lnSpc>
              <a:buNone/>
            </a:pPr>
            <a:r>
              <a:rPr kumimoji="0" lang="en-US" sz="1100" b="0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Improve production stability by strengthening change and release processes.</a:t>
            </a:r>
          </a:p>
          <a:p>
            <a:pPr marL="228600" indent="-228600">
              <a:lnSpc>
                <a:spcPct val="90000"/>
              </a:lnSpc>
              <a:buFont typeface="+mj-lt"/>
              <a:buAutoNum type="arabicPeriod"/>
            </a:pPr>
            <a:r>
              <a:rPr kumimoji="0" lang="en-US" sz="1100" b="0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Introduce post-change validation frameworks to assess impact and prevent regression</a:t>
            </a:r>
          </a:p>
          <a:p>
            <a:pPr marL="228600" indent="-228600">
              <a:lnSpc>
                <a:spcPct val="90000"/>
              </a:lnSpc>
              <a:buFont typeface="+mj-lt"/>
              <a:buAutoNum type="arabicPeriod"/>
            </a:pPr>
            <a:r>
              <a:rPr lang="en-US" sz="1100" dirty="0">
                <a:solidFill>
                  <a:prstClr val="black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DevOps and SRE-driven support: Embed </a:t>
            </a:r>
            <a:r>
              <a:rPr kumimoji="0" lang="en-US" sz="1100" b="0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SLIs, SLOs, and error budgets into system enhancements / releases</a:t>
            </a:r>
          </a:p>
          <a:p>
            <a:pPr marL="228600" indent="-228600">
              <a:lnSpc>
                <a:spcPct val="90000"/>
              </a:lnSpc>
              <a:buFont typeface="+mj-lt"/>
              <a:buAutoNum type="arabicPeriod"/>
            </a:pPr>
            <a:r>
              <a:rPr kumimoji="0" lang="en-US" sz="1100" b="0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Track and improve change success rate through data-driven analysis</a:t>
            </a:r>
          </a:p>
          <a:p>
            <a:pPr marL="228600" indent="-228600">
              <a:lnSpc>
                <a:spcPct val="90000"/>
              </a:lnSpc>
              <a:buFont typeface="+mj-lt"/>
              <a:buAutoNum type="arabicPeriod"/>
            </a:pPr>
            <a:r>
              <a:rPr kumimoji="0" lang="en-US" sz="1100" b="0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Integrate release monitoring and rollback procedures for rapid recovery</a:t>
            </a:r>
          </a:p>
          <a:p>
            <a:pPr marL="228600" indent="-228600">
              <a:lnSpc>
                <a:spcPct val="90000"/>
              </a:lnSpc>
              <a:buFont typeface="+mj-lt"/>
              <a:buAutoNum type="arabicPeriod"/>
            </a:pPr>
            <a:r>
              <a:rPr kumimoji="0" lang="en-US" sz="1100" b="0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Reduce change-related incidents through improved release governance and testing discipline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05117BBC-A68F-F3C2-0A44-68465B50254F}"/>
              </a:ext>
            </a:extLst>
          </p:cNvPr>
          <p:cNvSpPr txBox="1"/>
          <p:nvPr/>
        </p:nvSpPr>
        <p:spPr>
          <a:xfrm>
            <a:off x="324677" y="1537893"/>
            <a:ext cx="3922646" cy="54708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lang="en-US" sz="1400" dirty="0">
              <a:solidFill>
                <a:prstClr val="black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4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Operational / Tactical Execution</a:t>
            </a:r>
          </a:p>
          <a:p>
            <a:pPr marL="0" marR="0" lvl="0" indent="0" algn="ctr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en-US" sz="12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indent="0" algn="ctr">
              <a:lnSpc>
                <a:spcPct val="90000"/>
              </a:lnSpc>
              <a:buNone/>
              <a:defRPr/>
            </a:pPr>
            <a:r>
              <a:rPr kumimoji="0" lang="en-US" sz="1200" b="0" i="0" u="sng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Continuous Improvement Execution</a:t>
            </a:r>
          </a:p>
          <a:p>
            <a:pPr marL="0" indent="0">
              <a:lnSpc>
                <a:spcPct val="90000"/>
              </a:lnSpc>
              <a:buNone/>
              <a:defRPr/>
            </a:pPr>
            <a:r>
              <a:rPr kumimoji="0" lang="en-US" sz="1200" b="0" i="0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Use FMEA, RCA outputs, and incident data to prioritize and eliminate high-impact risks</a:t>
            </a:r>
            <a:endParaRPr lang="en-US" sz="12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indent="0">
              <a:lnSpc>
                <a:spcPct val="90000"/>
              </a:lnSpc>
              <a:buNone/>
              <a:defRPr/>
            </a:pPr>
            <a:endParaRPr lang="en-US" sz="12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indent="0" algn="ctr">
              <a:lnSpc>
                <a:spcPct val="90000"/>
              </a:lnSpc>
              <a:buNone/>
              <a:defRPr/>
            </a:pPr>
            <a:r>
              <a:rPr kumimoji="0" lang="en-US" sz="1200" b="0" i="0" u="sng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Change &amp; Release Discipline</a:t>
            </a:r>
          </a:p>
          <a:p>
            <a:pPr marL="0" indent="0">
              <a:lnSpc>
                <a:spcPct val="90000"/>
              </a:lnSpc>
              <a:buNone/>
              <a:defRPr/>
            </a:pPr>
            <a:r>
              <a:rPr kumimoji="0" lang="en-US" sz="1200" b="0" i="0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Enforce structured testing, validation, and rollback procedures to protect production environments</a:t>
            </a:r>
            <a:endParaRPr lang="en-US" sz="12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indent="0">
              <a:lnSpc>
                <a:spcPct val="90000"/>
              </a:lnSpc>
              <a:buNone/>
              <a:defRPr/>
            </a:pPr>
            <a:endParaRPr kumimoji="0" lang="en-US" sz="1200" b="0" i="0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indent="0">
              <a:lnSpc>
                <a:spcPct val="90000"/>
              </a:lnSpc>
              <a:buNone/>
              <a:defRPr/>
            </a:pPr>
            <a:endParaRPr lang="en-US" sz="12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indent="0">
              <a:lnSpc>
                <a:spcPct val="90000"/>
              </a:lnSpc>
              <a:buNone/>
              <a:defRPr/>
            </a:pPr>
            <a:endParaRPr kumimoji="0" lang="en-US" sz="1200" b="0" i="0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indent="0">
              <a:lnSpc>
                <a:spcPct val="90000"/>
              </a:lnSpc>
              <a:buNone/>
              <a:defRPr/>
            </a:pPr>
            <a:endParaRPr lang="en-US" sz="12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indent="0">
              <a:lnSpc>
                <a:spcPct val="90000"/>
              </a:lnSpc>
              <a:buNone/>
              <a:defRPr/>
            </a:pPr>
            <a:endParaRPr kumimoji="0" lang="en-US" sz="1200" b="0" i="0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indent="0">
              <a:lnSpc>
                <a:spcPct val="90000"/>
              </a:lnSpc>
              <a:buNone/>
              <a:defRPr/>
            </a:pPr>
            <a:endParaRPr lang="en-US" sz="12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indent="0">
              <a:lnSpc>
                <a:spcPct val="90000"/>
              </a:lnSpc>
              <a:buNone/>
              <a:defRPr/>
            </a:pPr>
            <a:endParaRPr kumimoji="0" lang="en-US" sz="1200" b="0" i="0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indent="0">
              <a:lnSpc>
                <a:spcPct val="90000"/>
              </a:lnSpc>
              <a:buNone/>
              <a:defRPr/>
            </a:pPr>
            <a:endParaRPr lang="en-US" sz="12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indent="0">
              <a:lnSpc>
                <a:spcPct val="90000"/>
              </a:lnSpc>
              <a:buNone/>
              <a:defRPr/>
            </a:pPr>
            <a:endParaRPr kumimoji="0" lang="en-US" sz="1200" b="0" i="0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indent="0">
              <a:lnSpc>
                <a:spcPct val="90000"/>
              </a:lnSpc>
              <a:buNone/>
              <a:defRPr/>
            </a:pPr>
            <a:endParaRPr lang="en-US" sz="12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indent="0">
              <a:lnSpc>
                <a:spcPct val="90000"/>
              </a:lnSpc>
              <a:buNone/>
              <a:defRPr/>
            </a:pPr>
            <a:endParaRPr kumimoji="0" lang="en-US" sz="1200" b="0" i="0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indent="0">
              <a:lnSpc>
                <a:spcPct val="90000"/>
              </a:lnSpc>
              <a:buNone/>
              <a:defRPr/>
            </a:pPr>
            <a:endParaRPr lang="en-US" sz="12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indent="0">
              <a:lnSpc>
                <a:spcPct val="90000"/>
              </a:lnSpc>
              <a:buNone/>
              <a:defRPr/>
            </a:pPr>
            <a:endParaRPr kumimoji="0" lang="en-US" sz="1200" b="0" i="0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67962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712973-041D-626D-F4AB-7F7944939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73A5094-6042-7ECF-DCD6-34E36A7970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-5705"/>
            <a:ext cx="9143993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4A818D4-7F40-039B-5B30-45090EC937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9143992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318DE5E-82D1-A5B4-8DAE-85543B8EAC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638" y="2010758"/>
            <a:ext cx="34289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6A92A5E4-3AC7-B1B9-06CB-4F90615EE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7638" y="637762"/>
            <a:ext cx="7416372" cy="900131"/>
          </a:xfrm>
        </p:spPr>
        <p:txBody>
          <a:bodyPr anchor="t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2700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Automation &amp; Resilience Engineering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1078D9B-B718-5F8C-8B10-483B9118F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D91A8748-47C2-D2D8-DF4D-54BE1F815D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177" y="2768161"/>
            <a:ext cx="9071640" cy="2653609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D20ADAE8-BAC5-8E95-62E9-D350906B346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51491" y="-3428"/>
            <a:ext cx="1200150" cy="1190625"/>
          </a:xfrm>
          <a:prstGeom prst="rect">
            <a:avLst/>
          </a:prstGeom>
        </p:spPr>
      </p:pic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2D1DA9C3-D6E7-8336-A209-E92D91014C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0" y="1688642"/>
            <a:ext cx="4571992" cy="5169358"/>
          </a:xfrm>
        </p:spPr>
        <p:txBody>
          <a:bodyPr anchor="ctr">
            <a:normAutofit fontScale="85000" lnSpcReduction="20000"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400" u="sng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Strategic Alignment &amp; Forward-Looking Recommendations</a:t>
            </a:r>
          </a:p>
          <a:p>
            <a:pPr marL="0" indent="0">
              <a:lnSpc>
                <a:spcPct val="90000"/>
              </a:lnSpc>
              <a:buNone/>
            </a:pPr>
            <a:endParaRPr kumimoji="0" lang="en-US" sz="1200" b="0" i="0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indent="0" algn="ctr">
              <a:lnSpc>
                <a:spcPct val="90000"/>
              </a:lnSpc>
              <a:buNone/>
            </a:pPr>
            <a:r>
              <a:rPr lang="en-US" sz="1300" b="1" u="sng" dirty="0">
                <a:solidFill>
                  <a:prstClr val="black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Automation of IT Operations &amp; Service Management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prstClr val="black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Reduce manual effort and improve response speed through targeted automation.</a:t>
            </a:r>
          </a:p>
          <a:p>
            <a:pPr marL="228600" indent="-228600">
              <a:lnSpc>
                <a:spcPct val="90000"/>
              </a:lnSpc>
              <a:buFont typeface="+mj-lt"/>
              <a:buAutoNum type="arabicPeriod"/>
            </a:pPr>
            <a:r>
              <a:rPr kumimoji="0" lang="en-US" sz="1200" b="0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Automate incident detection, triage, and remediation for common failure scenarios</a:t>
            </a:r>
          </a:p>
          <a:p>
            <a:pPr marL="228600" indent="-228600">
              <a:lnSpc>
                <a:spcPct val="90000"/>
              </a:lnSpc>
              <a:buFont typeface="+mj-lt"/>
              <a:buAutoNum type="arabicPeriod"/>
            </a:pPr>
            <a:r>
              <a:rPr kumimoji="0" lang="en-US" sz="1200" b="0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Implement runbook automation to standardize and accelerate response actions</a:t>
            </a:r>
          </a:p>
          <a:p>
            <a:pPr marL="228600" indent="-228600">
              <a:lnSpc>
                <a:spcPct val="90000"/>
              </a:lnSpc>
              <a:buFont typeface="+mj-lt"/>
              <a:buAutoNum type="arabicPeriod"/>
            </a:pPr>
            <a:r>
              <a:rPr kumimoji="0" lang="en-US" sz="1200" b="0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Automate provisioning, monitoring, and routine operational tasks to reduce toil</a:t>
            </a:r>
          </a:p>
          <a:p>
            <a:pPr marL="228600" indent="-228600">
              <a:lnSpc>
                <a:spcPct val="90000"/>
              </a:lnSpc>
              <a:buFont typeface="+mj-lt"/>
              <a:buAutoNum type="arabicPeriod"/>
            </a:pPr>
            <a:r>
              <a:rPr kumimoji="0" lang="en-US" sz="1200" b="0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Improve alert quality and event correlation to eliminate noise and increase signal accuracy</a:t>
            </a:r>
          </a:p>
          <a:p>
            <a:pPr marL="0" indent="0">
              <a:lnSpc>
                <a:spcPct val="90000"/>
              </a:lnSpc>
              <a:buNone/>
            </a:pPr>
            <a:endParaRPr kumimoji="0" lang="en-US" sz="1200" b="0" i="0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indent="0" algn="ctr">
              <a:lnSpc>
                <a:spcPct val="90000"/>
              </a:lnSpc>
              <a:buNone/>
            </a:pPr>
            <a:r>
              <a:rPr lang="en-US" sz="1300" b="1" u="sng" dirty="0">
                <a:solidFill>
                  <a:prstClr val="black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Resilience Engineering &amp; Failure Testing</a:t>
            </a:r>
          </a:p>
          <a:p>
            <a:pPr marL="0" indent="0">
              <a:lnSpc>
                <a:spcPct val="120000"/>
              </a:lnSpc>
              <a:buNone/>
            </a:pPr>
            <a:r>
              <a:rPr kumimoji="0" lang="en-US" sz="1200" b="0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Proactively validate system stability and readiness through controlled testing.</a:t>
            </a:r>
          </a:p>
          <a:p>
            <a:pPr marL="228600" indent="-228600">
              <a:lnSpc>
                <a:spcPct val="90000"/>
              </a:lnSpc>
              <a:buFont typeface="+mj-lt"/>
              <a:buAutoNum type="arabicPeriod"/>
            </a:pPr>
            <a:r>
              <a:rPr kumimoji="0" lang="en-US" sz="1200" b="0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Implement failure simulation and resilience testing to validate system behavior under stress</a:t>
            </a:r>
          </a:p>
          <a:p>
            <a:pPr marL="228600" indent="-228600">
              <a:lnSpc>
                <a:spcPct val="90000"/>
              </a:lnSpc>
              <a:buFont typeface="+mj-lt"/>
              <a:buAutoNum type="arabicPeriod"/>
            </a:pPr>
            <a:r>
              <a:rPr kumimoji="0" lang="en-US" sz="1200" b="0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Conduct high availability (HA), disaster recovery (DR), and failover testing to validate system resilience</a:t>
            </a:r>
          </a:p>
          <a:p>
            <a:pPr marL="228600" indent="-228600">
              <a:lnSpc>
                <a:spcPct val="90000"/>
              </a:lnSpc>
              <a:buFont typeface="+mj-lt"/>
              <a:buAutoNum type="arabicPeriod"/>
            </a:pPr>
            <a:r>
              <a:rPr kumimoji="0" lang="en-US" sz="1200" b="0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Identify and eliminate single points of failure (SPOFs) across infrastructure and applications</a:t>
            </a:r>
          </a:p>
          <a:p>
            <a:pPr marL="228600" indent="-228600">
              <a:lnSpc>
                <a:spcPct val="90000"/>
              </a:lnSpc>
              <a:buFont typeface="+mj-lt"/>
              <a:buAutoNum type="arabicPeriod"/>
            </a:pPr>
            <a:r>
              <a:rPr kumimoji="0" lang="en-US" sz="1200" b="0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Establish repeatable resilience validation cycles aligned to critical systems</a:t>
            </a:r>
          </a:p>
          <a:p>
            <a:pPr marL="228600" indent="-228600">
              <a:lnSpc>
                <a:spcPct val="90000"/>
              </a:lnSpc>
              <a:buFont typeface="+mj-lt"/>
              <a:buAutoNum type="arabicPeriod"/>
            </a:pPr>
            <a:r>
              <a:rPr lang="en-US" sz="1200" u="none" dirty="0">
                <a:solidFill>
                  <a:prstClr val="black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Conduct </a:t>
            </a:r>
            <a:r>
              <a:rPr lang="en-US" sz="1200" dirty="0">
                <a:solidFill>
                  <a:prstClr val="black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application / technology dependency mapping 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indent="0">
              <a:lnSpc>
                <a:spcPct val="90000"/>
              </a:lnSpc>
              <a:buNone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indent="0" algn="ctr">
              <a:lnSpc>
                <a:spcPct val="90000"/>
              </a:lnSpc>
              <a:buNone/>
            </a:pPr>
            <a:r>
              <a:rPr lang="en-US" sz="1300" b="1" u="sng" dirty="0">
                <a:solidFill>
                  <a:prstClr val="black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Maturity Modeling &amp; Roadmap Execution</a:t>
            </a:r>
          </a:p>
          <a:p>
            <a:pPr marL="0" indent="0">
              <a:lnSpc>
                <a:spcPct val="120000"/>
              </a:lnSpc>
              <a:buNone/>
            </a:pPr>
            <a:r>
              <a:rPr kumimoji="0" lang="en-US" sz="1200" b="0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Define and execute a phased roadmap to advance IT Operations maturity.</a:t>
            </a:r>
          </a:p>
          <a:p>
            <a:pPr marL="228600" indent="-228600">
              <a:lnSpc>
                <a:spcPct val="90000"/>
              </a:lnSpc>
              <a:buFont typeface="+mj-lt"/>
              <a:buAutoNum type="arabicPeriod"/>
            </a:pPr>
            <a:r>
              <a:rPr kumimoji="0" lang="en-US" sz="1200" b="0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Establish a capability maturity model across ITSM, automation, and reliability</a:t>
            </a:r>
          </a:p>
          <a:p>
            <a:pPr marL="228600" indent="-228600">
              <a:lnSpc>
                <a:spcPct val="90000"/>
              </a:lnSpc>
              <a:buFont typeface="+mj-lt"/>
              <a:buAutoNum type="arabicPeriod"/>
            </a:pPr>
            <a:r>
              <a:rPr kumimoji="0" lang="en-US" sz="1200" b="0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Define 6, 12,</a:t>
            </a:r>
            <a:r>
              <a:rPr lang="en-US" sz="1200" dirty="0">
                <a:solidFill>
                  <a:prstClr val="black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kumimoji="0" lang="en-US" sz="1200" b="0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&amp; 24-month target states for operational improvement</a:t>
            </a:r>
          </a:p>
          <a:p>
            <a:pPr marL="228600" indent="-228600">
              <a:lnSpc>
                <a:spcPct val="90000"/>
              </a:lnSpc>
              <a:buFont typeface="+mj-lt"/>
              <a:buAutoNum type="arabicPeriod"/>
            </a:pPr>
            <a:r>
              <a:rPr kumimoji="0" lang="en-US" sz="1200" b="0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Track progress through KPIs and maturity scoring</a:t>
            </a:r>
          </a:p>
          <a:p>
            <a:pPr marL="228600" indent="-228600">
              <a:lnSpc>
                <a:spcPct val="90000"/>
              </a:lnSpc>
              <a:buFont typeface="+mj-lt"/>
              <a:buAutoNum type="arabicPeriod"/>
            </a:pPr>
            <a:r>
              <a:rPr kumimoji="0" lang="en-US" sz="1200" b="0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Align investments in tools and automation to measurable business outcomes</a:t>
            </a:r>
            <a:endParaRPr lang="en-US" sz="1400" u="sng" dirty="0">
              <a:solidFill>
                <a:schemeClr val="tx1">
                  <a:alpha val="80000"/>
                </a:schemeClr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68A2AE29-88DD-E630-55D4-98188D2C5D88}"/>
              </a:ext>
            </a:extLst>
          </p:cNvPr>
          <p:cNvSpPr txBox="1"/>
          <p:nvPr/>
        </p:nvSpPr>
        <p:spPr>
          <a:xfrm>
            <a:off x="324677" y="1688642"/>
            <a:ext cx="3922646" cy="35826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lang="en-US" sz="1400" dirty="0">
              <a:solidFill>
                <a:prstClr val="black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4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Operational / Tactical Execution</a:t>
            </a:r>
          </a:p>
          <a:p>
            <a:pPr marL="0" indent="0">
              <a:lnSpc>
                <a:spcPct val="90000"/>
              </a:lnSpc>
              <a:buNone/>
              <a:defRPr/>
            </a:pPr>
            <a:endParaRPr kumimoji="0" lang="en-US" sz="1200" b="0" i="0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indent="0" algn="ctr">
              <a:lnSpc>
                <a:spcPct val="90000"/>
              </a:lnSpc>
              <a:buNone/>
              <a:defRPr/>
            </a:pPr>
            <a:r>
              <a:rPr kumimoji="0" lang="en-US" sz="1200" b="0" i="0" u="sng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Automation Deployment</a:t>
            </a:r>
            <a:endParaRPr lang="en-US" sz="1200" u="sng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indent="0">
              <a:lnSpc>
                <a:spcPct val="90000"/>
              </a:lnSpc>
              <a:buNone/>
              <a:defRPr/>
            </a:pPr>
            <a:r>
              <a:rPr kumimoji="0" lang="en-US" sz="1200" b="0" i="0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Implement automation across monitoring, incident response, provisioning, and operational workflows</a:t>
            </a:r>
          </a:p>
          <a:p>
            <a:pPr marL="0" indent="0">
              <a:lnSpc>
                <a:spcPct val="90000"/>
              </a:lnSpc>
              <a:buNone/>
              <a:defRPr/>
            </a:pPr>
            <a:endParaRPr kumimoji="0" lang="en-US" sz="1200" b="0" i="0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indent="0" algn="ctr">
              <a:lnSpc>
                <a:spcPct val="90000"/>
              </a:lnSpc>
              <a:buNone/>
              <a:defRPr/>
            </a:pPr>
            <a:r>
              <a:rPr kumimoji="0" lang="en-US" sz="1200" b="0" i="0" u="sng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Resilience Validation</a:t>
            </a:r>
            <a:endParaRPr lang="en-US" sz="1200" u="sng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indent="0">
              <a:lnSpc>
                <a:spcPct val="90000"/>
              </a:lnSpc>
              <a:buNone/>
              <a:defRPr/>
            </a:pPr>
            <a:r>
              <a:rPr kumimoji="0" lang="en-US" sz="1200" b="0" i="0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Conduct regular HA/DR testing, failure simulations, and capacity validation</a:t>
            </a:r>
          </a:p>
          <a:p>
            <a:pPr marL="0" indent="0">
              <a:lnSpc>
                <a:spcPct val="90000"/>
              </a:lnSpc>
              <a:buNone/>
              <a:defRPr/>
            </a:pPr>
            <a:endParaRPr lang="en-US" sz="12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indent="0" algn="ctr">
              <a:lnSpc>
                <a:spcPct val="90000"/>
              </a:lnSpc>
              <a:buNone/>
              <a:defRPr/>
            </a:pPr>
            <a:r>
              <a:rPr kumimoji="0" lang="en-US" sz="1200" b="0" i="0" u="sng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Operational Standards Enforcement</a:t>
            </a:r>
          </a:p>
          <a:p>
            <a:pPr marL="0" indent="0">
              <a:lnSpc>
                <a:spcPct val="90000"/>
              </a:lnSpc>
              <a:buNone/>
              <a:defRPr/>
            </a:pPr>
            <a:r>
              <a:rPr kumimoji="0" lang="en-US" sz="1200" b="0" i="0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Ensure all production environments meet requirements for high availability, scalability, backup/recovery, and documented manual operating procedures (MOPs if applicable)</a:t>
            </a:r>
          </a:p>
        </p:txBody>
      </p:sp>
    </p:spTree>
    <p:extLst>
      <p:ext uri="{BB962C8B-B14F-4D97-AF65-F5344CB8AC3E}">
        <p14:creationId xmlns:p14="http://schemas.microsoft.com/office/powerpoint/2010/main" val="26408613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675DA6-0427-059A-A0C7-88C0E54FF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AD675C8-8AD9-1FE7-8569-FFA227C5BD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-5705"/>
            <a:ext cx="9143993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2870B7-2705-0781-0CC9-88DC776AAC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9143992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28FE706-341A-B6A6-4076-D7157073A9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638" y="2010758"/>
            <a:ext cx="34289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ADBCBD5B-0D9A-B137-1821-50699EA796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7638" y="637762"/>
            <a:ext cx="7416372" cy="900131"/>
          </a:xfrm>
        </p:spPr>
        <p:txBody>
          <a:bodyPr anchor="t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2700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Team Leadership &amp; Development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6CA5491-226D-7BE9-B1BD-710B2346A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257B3CD-C133-CB58-25F8-E042310ECC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177" y="2768161"/>
            <a:ext cx="9071640" cy="2653609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D8FE576F-FE26-9CA5-ACA9-9743A2E9F47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51491" y="-3428"/>
            <a:ext cx="1200150" cy="1190625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88603695-F90E-CF0F-346C-236EB102C2E0}"/>
              </a:ext>
            </a:extLst>
          </p:cNvPr>
          <p:cNvSpPr txBox="1"/>
          <p:nvPr/>
        </p:nvSpPr>
        <p:spPr>
          <a:xfrm>
            <a:off x="313481" y="1069795"/>
            <a:ext cx="3922646" cy="58379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lang="en-US" sz="1400" dirty="0">
              <a:solidFill>
                <a:prstClr val="black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4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Operational / Tactical Execution</a:t>
            </a:r>
          </a:p>
          <a:p>
            <a:pPr marL="0" marR="0" lvl="0" indent="0" algn="ctr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en-US" sz="14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2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Team Structure &amp; Coverage</a:t>
            </a:r>
            <a:endParaRPr lang="en-US" sz="1200" u="sng" dirty="0">
              <a:solidFill>
                <a:prstClr val="black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marR="0" lvl="0" indent="0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200" b="0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Define L1–L4 support tiers, on-call schedules, and escalation ownership</a:t>
            </a:r>
          </a:p>
          <a:p>
            <a:pPr marL="0" marR="0" lvl="0" indent="0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lang="en-US" sz="1200" dirty="0">
              <a:solidFill>
                <a:prstClr val="black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2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Performance Tracking</a:t>
            </a:r>
          </a:p>
          <a:p>
            <a:pPr marL="0" marR="0" lvl="0" indent="0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200" b="0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Monitor KPIs including MTTR, SLA adherence, incident volume, and change success rate</a:t>
            </a:r>
          </a:p>
          <a:p>
            <a:pPr marL="0" marR="0" lvl="0" indent="0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lang="en-US" sz="1200" dirty="0">
              <a:solidFill>
                <a:prstClr val="black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2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Training &amp; Development Execution</a:t>
            </a:r>
          </a:p>
          <a:p>
            <a:pPr marL="0" marR="0" lvl="0" indent="0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200" b="0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Deliver cross-training, rotational programs, and continuous skill development</a:t>
            </a:r>
          </a:p>
          <a:p>
            <a:pPr marL="0" marR="0" lvl="0" indent="0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en-US" sz="1200" b="0" i="0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2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Vendor Management Execution</a:t>
            </a:r>
            <a:endParaRPr lang="en-US" sz="1200" u="sng" dirty="0">
              <a:solidFill>
                <a:prstClr val="black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marR="0" lvl="0" indent="0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200" b="0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Enforce SLA/KPI governance, conduct service reviews, and manage vendor performance</a:t>
            </a:r>
          </a:p>
          <a:p>
            <a:pPr marL="0" marR="0" lvl="0" indent="0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lang="en-US" sz="1200" dirty="0">
              <a:solidFill>
                <a:prstClr val="black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2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Resource Planning &amp; Scaling</a:t>
            </a:r>
          </a:p>
          <a:p>
            <a:pPr marL="0" marR="0" lvl="0" indent="0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200" b="0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Align staffing levels with system demand, business growth, and operational complexity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595392D0-0090-DFF9-5D37-2498B54F93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5788" y="1523318"/>
            <a:ext cx="4518212" cy="5421770"/>
          </a:xfrm>
        </p:spPr>
        <p:txBody>
          <a:bodyPr anchor="ctr">
            <a:normAutofit fontScale="70000" lnSpcReduction="20000"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700" u="sng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Strategic Alignment &amp; Forward-Looking Recommendations</a:t>
            </a:r>
          </a:p>
          <a:p>
            <a:pPr marL="0" indent="0">
              <a:lnSpc>
                <a:spcPct val="90000"/>
              </a:lnSpc>
              <a:buNone/>
            </a:pPr>
            <a:endParaRPr lang="en-US" sz="1200" dirty="0">
              <a:solidFill>
                <a:schemeClr val="tx1">
                  <a:alpha val="80000"/>
                </a:schemeClr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indent="0" algn="ctr">
              <a:lnSpc>
                <a:spcPct val="90000"/>
              </a:lnSpc>
              <a:buNone/>
            </a:pPr>
            <a:r>
              <a:rPr lang="en-US" sz="1100" b="1" u="sng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IT Operations Organizational Model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Design and scale a high-performing IT Operations organization aligned to service reliability and business needs.</a:t>
            </a:r>
          </a:p>
          <a:p>
            <a:pPr marL="228600" indent="-228600">
              <a:lnSpc>
                <a:spcPct val="90000"/>
              </a:lnSpc>
              <a:buFont typeface="+mj-lt"/>
              <a:buAutoNum type="arabicPeriod"/>
            </a:pPr>
            <a:r>
              <a:rPr lang="en-US" sz="11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Define clear ownership model across Incident, Problem, Change, and Service Transition</a:t>
            </a:r>
          </a:p>
          <a:p>
            <a:pPr marL="228600" indent="-228600">
              <a:lnSpc>
                <a:spcPct val="90000"/>
              </a:lnSpc>
              <a:buFont typeface="+mj-lt"/>
              <a:buAutoNum type="arabicPeriod"/>
            </a:pPr>
            <a:r>
              <a:rPr lang="en-US" sz="11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Implement tiered support structure (L1–L4) with defined roles, responsibilities, and escalation paths</a:t>
            </a:r>
          </a:p>
          <a:p>
            <a:pPr marL="228600" indent="-228600">
              <a:lnSpc>
                <a:spcPct val="90000"/>
              </a:lnSpc>
              <a:buFont typeface="+mj-lt"/>
              <a:buAutoNum type="arabicPeriod"/>
            </a:pPr>
            <a:r>
              <a:rPr lang="en-US" sz="11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Establish 24/7 operational coverage and on-call model aligned to business-critical services</a:t>
            </a:r>
          </a:p>
          <a:p>
            <a:pPr marL="228600" indent="-228600">
              <a:lnSpc>
                <a:spcPct val="90000"/>
              </a:lnSpc>
              <a:buFont typeface="+mj-lt"/>
              <a:buAutoNum type="arabicPeriod"/>
            </a:pPr>
            <a:r>
              <a:rPr lang="en-US" sz="11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Align team structure to support infrastructure, applications, and end-user services at scale</a:t>
            </a:r>
          </a:p>
          <a:p>
            <a:pPr marL="0" indent="0">
              <a:lnSpc>
                <a:spcPct val="90000"/>
              </a:lnSpc>
              <a:buNone/>
            </a:pPr>
            <a:endParaRPr lang="en-US" sz="1100" dirty="0">
              <a:solidFill>
                <a:schemeClr val="tx1">
                  <a:alpha val="80000"/>
                </a:schemeClr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indent="0" algn="ctr">
              <a:lnSpc>
                <a:spcPct val="90000"/>
              </a:lnSpc>
              <a:buNone/>
            </a:pPr>
            <a:r>
              <a:rPr lang="en-US" sz="1100" b="1" u="sng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Performance Management &amp; Accountability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1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Drive a culture of accountability through measurable performance outcomes.</a:t>
            </a:r>
          </a:p>
          <a:p>
            <a:pPr marL="228600" indent="-228600">
              <a:lnSpc>
                <a:spcPct val="90000"/>
              </a:lnSpc>
              <a:buFont typeface="+mj-lt"/>
              <a:buAutoNum type="arabicPeriod"/>
            </a:pPr>
            <a:r>
              <a:rPr lang="en-US" sz="11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Define and track team-level KPIs (MTTR, SLA adherence, incident volume, change success rate)</a:t>
            </a:r>
          </a:p>
          <a:p>
            <a:pPr marL="228600" indent="-228600">
              <a:lnSpc>
                <a:spcPct val="90000"/>
              </a:lnSpc>
              <a:buFont typeface="+mj-lt"/>
              <a:buAutoNum type="arabicPeriod"/>
            </a:pPr>
            <a:r>
              <a:rPr lang="en-US" sz="11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Establish clear ownership of services and operational outcomes</a:t>
            </a:r>
          </a:p>
          <a:p>
            <a:pPr marL="228600" indent="-228600">
              <a:lnSpc>
                <a:spcPct val="90000"/>
              </a:lnSpc>
              <a:buFont typeface="+mj-lt"/>
              <a:buAutoNum type="arabicPeriod"/>
            </a:pPr>
            <a:r>
              <a:rPr lang="en-US" sz="11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Align individual and team performance to business impact &amp; service reliability goals </a:t>
            </a:r>
          </a:p>
          <a:p>
            <a:pPr marL="228600" indent="-228600">
              <a:lnSpc>
                <a:spcPct val="90000"/>
              </a:lnSpc>
              <a:buFont typeface="+mj-lt"/>
              <a:buAutoNum type="arabicPeriod"/>
            </a:pPr>
            <a:endParaRPr lang="en-US" sz="1100" dirty="0">
              <a:solidFill>
                <a:schemeClr val="tx1">
                  <a:alpha val="80000"/>
                </a:schemeClr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indent="0" algn="ctr">
              <a:lnSpc>
                <a:spcPct val="90000"/>
              </a:lnSpc>
              <a:buNone/>
            </a:pPr>
            <a:r>
              <a:rPr lang="en-US" sz="1100" b="1" u="sng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Talent Development &amp; Vendor Capability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Build a resilient, cross-functional team capable of supporting complex, evolving environments, and establish strong governance over third-party service providers. </a:t>
            </a:r>
          </a:p>
          <a:p>
            <a:pPr marL="228600" indent="-228600">
              <a:lnSpc>
                <a:spcPct val="120000"/>
              </a:lnSpc>
              <a:buFont typeface="+mj-lt"/>
              <a:buAutoNum type="arabicPeriod"/>
            </a:pPr>
            <a:r>
              <a:rPr lang="en-US" sz="11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Implement cross-training, skill development, and rotational programs across infrastructure, applications, and ITSM disciplines to build depth and redundancy</a:t>
            </a:r>
          </a:p>
          <a:p>
            <a:pPr marL="228600" indent="-228600">
              <a:lnSpc>
                <a:spcPct val="120000"/>
              </a:lnSpc>
              <a:buFont typeface="+mj-lt"/>
              <a:buAutoNum type="arabicPeriod"/>
            </a:pPr>
            <a:r>
              <a:rPr lang="en-US" sz="11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Develop individual development plans (IDPs) aligned to technical and leadership growth </a:t>
            </a:r>
          </a:p>
          <a:p>
            <a:pPr marL="228600" indent="-228600">
              <a:lnSpc>
                <a:spcPct val="120000"/>
              </a:lnSpc>
              <a:buFont typeface="+mj-lt"/>
              <a:buAutoNum type="arabicPeriod"/>
            </a:pPr>
            <a:r>
              <a:rPr lang="en-US" sz="11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Foster a culture of continuous learning and operational excellence </a:t>
            </a:r>
          </a:p>
          <a:p>
            <a:pPr marL="228600" indent="-228600">
              <a:lnSpc>
                <a:spcPct val="120000"/>
              </a:lnSpc>
              <a:buFont typeface="+mj-lt"/>
              <a:buAutoNum type="arabicPeriod"/>
            </a:pPr>
            <a:r>
              <a:rPr lang="en-US" sz="11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Manage Application Management Services (AMS) and infrastructure vendors through SLA/KPI frameworks, including contract T&amp;C’s (penalty and award clauses) </a:t>
            </a:r>
          </a:p>
          <a:p>
            <a:pPr marL="228600" indent="-228600">
              <a:lnSpc>
                <a:spcPct val="120000"/>
              </a:lnSpc>
              <a:buFont typeface="+mj-lt"/>
              <a:buAutoNum type="arabicPeriod"/>
            </a:pPr>
            <a:r>
              <a:rPr lang="en-US" sz="11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Implement vendor risk profiling and dependency management</a:t>
            </a:r>
          </a:p>
          <a:p>
            <a:pPr marL="0" indent="0">
              <a:lnSpc>
                <a:spcPct val="90000"/>
              </a:lnSpc>
              <a:buNone/>
            </a:pPr>
            <a:endParaRPr lang="en-US" sz="1100" dirty="0">
              <a:solidFill>
                <a:schemeClr val="tx1">
                  <a:alpha val="80000"/>
                </a:schemeClr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indent="0" algn="ctr">
              <a:lnSpc>
                <a:spcPct val="90000"/>
              </a:lnSpc>
              <a:buNone/>
            </a:pPr>
            <a:r>
              <a:rPr lang="en-US" sz="1100" b="1" u="sng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Sustainable Operations &amp; Team Resilience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Ensure long-term team performance through balanced workload and operational sustainability.</a:t>
            </a:r>
          </a:p>
          <a:p>
            <a:pPr marL="228600" indent="-228600">
              <a:lnSpc>
                <a:spcPct val="120000"/>
              </a:lnSpc>
              <a:buFont typeface="+mj-lt"/>
              <a:buAutoNum type="arabicPeriod"/>
            </a:pPr>
            <a:r>
              <a:rPr lang="en-US" sz="11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Optimize on-call load distribution and escalation models to prevent burnout</a:t>
            </a:r>
          </a:p>
          <a:p>
            <a:pPr marL="228600" indent="-228600">
              <a:lnSpc>
                <a:spcPct val="120000"/>
              </a:lnSpc>
              <a:buFont typeface="+mj-lt"/>
              <a:buAutoNum type="arabicPeriod"/>
            </a:pPr>
            <a:r>
              <a:rPr lang="en-US" sz="11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Align staffing and resource planning to business growth and system complexity</a:t>
            </a:r>
          </a:p>
          <a:p>
            <a:pPr marL="228600" indent="-228600">
              <a:lnSpc>
                <a:spcPct val="120000"/>
              </a:lnSpc>
              <a:buFont typeface="+mj-lt"/>
              <a:buAutoNum type="arabicPeriod"/>
            </a:pPr>
            <a:r>
              <a:rPr lang="en-US" sz="11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Build a culture of ownership, accountability, and collaboration (“One Team” mindset)</a:t>
            </a:r>
          </a:p>
          <a:p>
            <a:pPr marL="228600" indent="-228600">
              <a:lnSpc>
                <a:spcPct val="120000"/>
              </a:lnSpc>
              <a:buFont typeface="+mj-lt"/>
              <a:buAutoNum type="arabicPeriod"/>
            </a:pPr>
            <a:r>
              <a:rPr lang="en-US" sz="11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Maintain focus on operational stability without sacrificing team sustainability </a:t>
            </a:r>
          </a:p>
        </p:txBody>
      </p:sp>
    </p:spTree>
    <p:extLst>
      <p:ext uri="{BB962C8B-B14F-4D97-AF65-F5344CB8AC3E}">
        <p14:creationId xmlns:p14="http://schemas.microsoft.com/office/powerpoint/2010/main" val="33855580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32ED9D-F4FA-D7F6-FDD4-B12EE59FEE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82B81A-16E1-D38D-5691-C3FDA52B38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-5705"/>
            <a:ext cx="9143993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25F873A-4AF2-2F32-5A5E-3E66233DDE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9143992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3CD3691-72DC-CF00-35EE-344F05C0BD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638" y="2010758"/>
            <a:ext cx="34289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F1C90560-E371-BB66-8DE1-776D65B33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7638" y="637762"/>
            <a:ext cx="7416372" cy="900131"/>
          </a:xfrm>
        </p:spPr>
        <p:txBody>
          <a:bodyPr anchor="t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2700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Stakeholder Management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63A5C9A-2495-D86A-AAE2-F46EBB5AB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7A58ED2-E051-B6F5-7525-A0DA22C4E4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177" y="2768161"/>
            <a:ext cx="9071640" cy="2653609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605AD46C-577A-1DDE-CC3E-8FF9808E76A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51491" y="-3428"/>
            <a:ext cx="1200150" cy="1190625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9483BA4C-CFFA-AC17-8D26-7DCF41C7AE12}"/>
              </a:ext>
            </a:extLst>
          </p:cNvPr>
          <p:cNvSpPr txBox="1"/>
          <p:nvPr/>
        </p:nvSpPr>
        <p:spPr>
          <a:xfrm>
            <a:off x="324677" y="1380395"/>
            <a:ext cx="3922646" cy="51693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lang="en-US" sz="1400" dirty="0">
              <a:solidFill>
                <a:prstClr val="black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4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Operational / Tactical Execution </a:t>
            </a:r>
          </a:p>
          <a:p>
            <a:pPr marL="0" marR="0" lvl="0" indent="0" algn="ctr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en-US" sz="11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2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Stakeholder Alignment Execution</a:t>
            </a:r>
          </a:p>
          <a:p>
            <a:pPr marL="0" marR="0" lvl="0" indent="0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200" b="0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Define service criticality, align SLAs, and ensure IT priorities match business needs</a:t>
            </a:r>
            <a:endParaRPr lang="en-US" sz="1200" dirty="0">
              <a:solidFill>
                <a:prstClr val="black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marR="0" lvl="0" indent="0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en-US" sz="1200" b="0" i="0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2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Escalation Management</a:t>
            </a:r>
          </a:p>
          <a:p>
            <a:pPr marL="0" marR="0" lvl="0" indent="0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200" b="0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Execute severity-based escalation with clear ownership and communication protocols</a:t>
            </a:r>
            <a:endParaRPr lang="en-US" sz="1200" dirty="0">
              <a:solidFill>
                <a:prstClr val="black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marR="0" lvl="0" indent="0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en-US" sz="1200" b="0" i="0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2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Communication Execution</a:t>
            </a:r>
            <a:endParaRPr lang="en-US" sz="1200" u="sng" dirty="0">
              <a:solidFill>
                <a:prstClr val="black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marR="0" lvl="0" indent="0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200" b="0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Deliver real-time updates, incident summaries, and post-resolution reports</a:t>
            </a:r>
          </a:p>
          <a:p>
            <a:pPr marL="0" marR="0" lvl="0" indent="0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en-US" sz="1200" b="0" i="0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2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Reporting &amp; Visibility</a:t>
            </a:r>
            <a:endParaRPr lang="en-US" sz="1200" u="sng" dirty="0">
              <a:solidFill>
                <a:prstClr val="black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marR="0" lvl="0" indent="0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200" b="0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Maintain dashboards tracking system performance, incident impact, and SLA adherence</a:t>
            </a:r>
          </a:p>
          <a:p>
            <a:pPr marL="0" marR="0" lvl="0" indent="0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lang="en-US" sz="1200" dirty="0">
              <a:solidFill>
                <a:prstClr val="black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2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Feedback Integration</a:t>
            </a:r>
          </a:p>
          <a:p>
            <a:pPr marL="0" marR="0" lvl="0" indent="0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200" b="0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Capture stakeholder input and drive continuous service improvement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D067D73C-4530-D17F-50BA-911CCF45DA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0" y="1688641"/>
            <a:ext cx="4571999" cy="5169359"/>
          </a:xfrm>
        </p:spPr>
        <p:txBody>
          <a:bodyPr anchor="ctr">
            <a:normAutofit fontScale="70000" lnSpcReduction="20000"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700" u="sng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Strategic Alignment &amp; Forward-Looking Recommendations</a:t>
            </a:r>
          </a:p>
          <a:p>
            <a:pPr marL="0" indent="0" algn="ctr">
              <a:lnSpc>
                <a:spcPct val="90000"/>
              </a:lnSpc>
              <a:buNone/>
            </a:pPr>
            <a:endParaRPr lang="en-US" sz="1200" u="sng" dirty="0">
              <a:solidFill>
                <a:schemeClr val="tx1">
                  <a:alpha val="80000"/>
                </a:schemeClr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indent="0" algn="ctr">
              <a:lnSpc>
                <a:spcPct val="90000"/>
              </a:lnSpc>
              <a:buNone/>
            </a:pPr>
            <a:r>
              <a:rPr lang="en-US" sz="1200" b="1" u="sng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Business-Aligned Service Framework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2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Align IT Operations services directly to business priorities and impact.</a:t>
            </a:r>
          </a:p>
          <a:p>
            <a:pPr marL="228600" indent="-228600">
              <a:lnSpc>
                <a:spcPct val="90000"/>
              </a:lnSpc>
              <a:buFont typeface="+mj-lt"/>
              <a:buAutoNum type="arabicPeriod"/>
            </a:pPr>
            <a:r>
              <a:rPr lang="en-US" sz="12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Define application and service criticality tiers (Vital, Critical, Important, Non-Critical)</a:t>
            </a:r>
          </a:p>
          <a:p>
            <a:pPr marL="228600" indent="-228600">
              <a:lnSpc>
                <a:spcPct val="90000"/>
              </a:lnSpc>
              <a:buFont typeface="+mj-lt"/>
              <a:buAutoNum type="arabicPeriod"/>
            </a:pPr>
            <a:r>
              <a:rPr lang="en-US" sz="12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Align SLAs, response times, and escalation paths to each criticality level</a:t>
            </a:r>
          </a:p>
          <a:p>
            <a:pPr marL="228600" indent="-228600">
              <a:lnSpc>
                <a:spcPct val="90000"/>
              </a:lnSpc>
              <a:buFont typeface="+mj-lt"/>
              <a:buAutoNum type="arabicPeriod"/>
            </a:pPr>
            <a:r>
              <a:rPr lang="en-US" sz="12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Map IT services to business capabilities and operational impact (production, sales, customer experience, etc.)</a:t>
            </a:r>
          </a:p>
          <a:p>
            <a:pPr marL="228600" indent="-228600">
              <a:lnSpc>
                <a:spcPct val="90000"/>
              </a:lnSpc>
              <a:buFont typeface="+mj-lt"/>
              <a:buAutoNum type="arabicPeriod"/>
            </a:pPr>
            <a:r>
              <a:rPr lang="en-US" sz="12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Ensure IT Operations decisions are driven by business priority and risk</a:t>
            </a:r>
          </a:p>
          <a:p>
            <a:pPr marL="228600" indent="-228600">
              <a:lnSpc>
                <a:spcPct val="90000"/>
              </a:lnSpc>
              <a:buFont typeface="+mj-lt"/>
              <a:buAutoNum type="arabicPeriod"/>
            </a:pPr>
            <a:endParaRPr lang="en-US" sz="1200" dirty="0">
              <a:solidFill>
                <a:schemeClr val="tx1">
                  <a:alpha val="80000"/>
                </a:schemeClr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indent="0" algn="ctr">
              <a:lnSpc>
                <a:spcPct val="90000"/>
              </a:lnSpc>
              <a:buNone/>
            </a:pPr>
            <a:r>
              <a:rPr lang="en-US" sz="1200" b="1" u="sng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Proactive Stakeholder Engagement Model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2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Establish IT Operations as a strategic partner to business and technical stakeholders.</a:t>
            </a:r>
          </a:p>
          <a:p>
            <a:pPr marL="228600" indent="-228600">
              <a:lnSpc>
                <a:spcPct val="90000"/>
              </a:lnSpc>
              <a:buFont typeface="+mj-lt"/>
              <a:buAutoNum type="arabicPeriod"/>
            </a:pPr>
            <a:r>
              <a:rPr lang="en-US" sz="12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Act as primary liaison between IT, engineering, and business teams</a:t>
            </a:r>
          </a:p>
          <a:p>
            <a:pPr marL="228600" indent="-228600">
              <a:lnSpc>
                <a:spcPct val="90000"/>
              </a:lnSpc>
              <a:buFont typeface="+mj-lt"/>
              <a:buAutoNum type="arabicPeriod"/>
            </a:pPr>
            <a:r>
              <a:rPr lang="en-US" sz="12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Conduct regular stakeholder reviews and service alignment sessions</a:t>
            </a:r>
          </a:p>
          <a:p>
            <a:pPr marL="228600" indent="-228600">
              <a:lnSpc>
                <a:spcPct val="90000"/>
              </a:lnSpc>
              <a:buFont typeface="+mj-lt"/>
              <a:buAutoNum type="arabicPeriod"/>
            </a:pPr>
            <a:r>
              <a:rPr lang="en-US" sz="12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Capture and integrate feedback from business users, engineering teams, and leadership</a:t>
            </a:r>
          </a:p>
          <a:p>
            <a:pPr marL="228600" indent="-228600">
              <a:lnSpc>
                <a:spcPct val="90000"/>
              </a:lnSpc>
              <a:buFont typeface="+mj-lt"/>
              <a:buAutoNum type="arabicPeriod"/>
            </a:pPr>
            <a:r>
              <a:rPr lang="en-US" sz="12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Drive alignment between service performance and business expectations</a:t>
            </a:r>
          </a:p>
          <a:p>
            <a:pPr marL="228600" indent="-228600">
              <a:lnSpc>
                <a:spcPct val="90000"/>
              </a:lnSpc>
              <a:buFont typeface="+mj-lt"/>
              <a:buAutoNum type="arabicPeriod"/>
            </a:pPr>
            <a:endParaRPr lang="en-US" sz="1200" dirty="0">
              <a:solidFill>
                <a:schemeClr val="tx1">
                  <a:alpha val="80000"/>
                </a:schemeClr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indent="0" algn="ctr">
              <a:lnSpc>
                <a:spcPct val="90000"/>
              </a:lnSpc>
              <a:buNone/>
            </a:pPr>
            <a:r>
              <a:rPr lang="en-US" sz="1200" b="1" u="sng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Structured Escalation &amp; Communication Framework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2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Ensure clear, consistent, and timely communication during incidents and operational events.</a:t>
            </a:r>
          </a:p>
          <a:p>
            <a:pPr marL="228600" indent="-228600">
              <a:lnSpc>
                <a:spcPct val="90000"/>
              </a:lnSpc>
              <a:buFont typeface="+mj-lt"/>
              <a:buAutoNum type="arabicPeriod"/>
            </a:pPr>
            <a:r>
              <a:rPr lang="en-US" sz="12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Define severity-based escalation model (SEV1–SEV4) with clear notification criteria</a:t>
            </a:r>
          </a:p>
          <a:p>
            <a:pPr marL="228600" indent="-228600">
              <a:lnSpc>
                <a:spcPct val="90000"/>
              </a:lnSpc>
              <a:buFont typeface="+mj-lt"/>
              <a:buAutoNum type="arabicPeriod"/>
            </a:pPr>
            <a:r>
              <a:rPr lang="en-US" sz="12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Standardize communication protocols for incidents, outages, and major changes</a:t>
            </a:r>
          </a:p>
          <a:p>
            <a:pPr marL="228600" indent="-228600">
              <a:lnSpc>
                <a:spcPct val="90000"/>
              </a:lnSpc>
              <a:buFont typeface="+mj-lt"/>
              <a:buAutoNum type="arabicPeriod"/>
            </a:pPr>
            <a:r>
              <a:rPr lang="en-US" sz="12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Deliver real-time updates and structured incident communications aligned to audience needs</a:t>
            </a:r>
          </a:p>
          <a:p>
            <a:pPr marL="228600" indent="-228600">
              <a:lnSpc>
                <a:spcPct val="90000"/>
              </a:lnSpc>
              <a:buFont typeface="+mj-lt"/>
              <a:buAutoNum type="arabicPeriod"/>
            </a:pPr>
            <a:r>
              <a:rPr lang="en-US" sz="12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Ensure no ambiguity in who is notified, when, and how</a:t>
            </a:r>
          </a:p>
          <a:p>
            <a:pPr marL="228600" indent="-228600">
              <a:lnSpc>
                <a:spcPct val="90000"/>
              </a:lnSpc>
              <a:buFont typeface="+mj-lt"/>
              <a:buAutoNum type="arabicPeriod"/>
            </a:pPr>
            <a:endParaRPr lang="en-US" sz="1200" dirty="0">
              <a:solidFill>
                <a:schemeClr val="tx1">
                  <a:alpha val="80000"/>
                </a:schemeClr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indent="0" algn="ctr">
              <a:lnSpc>
                <a:spcPct val="90000"/>
              </a:lnSpc>
              <a:buNone/>
            </a:pPr>
            <a:r>
              <a:rPr lang="en-US" sz="1200" b="1" u="sng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Executive Reporting &amp; Transparency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2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Provide visibility into IT Operations performance and business impact.</a:t>
            </a:r>
          </a:p>
          <a:p>
            <a:pPr marL="228600" indent="-228600">
              <a:lnSpc>
                <a:spcPct val="90000"/>
              </a:lnSpc>
              <a:buFont typeface="+mj-lt"/>
              <a:buAutoNum type="arabicPeriod"/>
            </a:pPr>
            <a:r>
              <a:rPr lang="en-US" sz="12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Deliver real-time dashboards and reporting on system health, incidents, and service performance</a:t>
            </a:r>
          </a:p>
          <a:p>
            <a:pPr marL="228600" indent="-228600">
              <a:lnSpc>
                <a:spcPct val="90000"/>
              </a:lnSpc>
              <a:buFont typeface="+mj-lt"/>
              <a:buAutoNum type="arabicPeriod"/>
            </a:pPr>
            <a:r>
              <a:rPr lang="en-US" sz="12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Provide business impact reporting (e.g., production loss, revenue impact, customer disruption)</a:t>
            </a:r>
          </a:p>
          <a:p>
            <a:pPr marL="228600" indent="-228600">
              <a:lnSpc>
                <a:spcPct val="90000"/>
              </a:lnSpc>
              <a:buFont typeface="+mj-lt"/>
              <a:buAutoNum type="arabicPeriod"/>
            </a:pPr>
            <a:r>
              <a:rPr lang="en-US" sz="12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Establish monthly and quarterly operational reviews with leadership</a:t>
            </a:r>
          </a:p>
          <a:p>
            <a:pPr marL="228600" indent="-228600">
              <a:lnSpc>
                <a:spcPct val="90000"/>
              </a:lnSpc>
              <a:buFont typeface="+mj-lt"/>
              <a:buAutoNum type="arabicPeriod"/>
            </a:pPr>
            <a:r>
              <a:rPr lang="en-US" sz="12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Enable data-driven decision-making through clear, actionable insights</a:t>
            </a:r>
          </a:p>
          <a:p>
            <a:pPr marL="228600" indent="-228600">
              <a:lnSpc>
                <a:spcPct val="90000"/>
              </a:lnSpc>
              <a:buFont typeface="+mj-lt"/>
              <a:buAutoNum type="arabicPeriod"/>
            </a:pPr>
            <a:endParaRPr lang="en-US" sz="1200" dirty="0">
              <a:solidFill>
                <a:schemeClr val="tx1">
                  <a:alpha val="80000"/>
                </a:schemeClr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indent="0" algn="ctr">
              <a:lnSpc>
                <a:spcPct val="90000"/>
              </a:lnSpc>
              <a:buNone/>
            </a:pPr>
            <a:r>
              <a:rPr lang="en-US" sz="1200" b="1" u="sng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Continuous Feedback &amp; Improvement Loop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2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Create a closed-loop system to continuously improve service delivery and stakeholder satisfaction.</a:t>
            </a:r>
          </a:p>
          <a:p>
            <a:pPr marL="228600" indent="-228600">
              <a:lnSpc>
                <a:spcPct val="90000"/>
              </a:lnSpc>
              <a:buFont typeface="+mj-lt"/>
              <a:buAutoNum type="arabicPeriod"/>
            </a:pPr>
            <a:r>
              <a:rPr lang="en-US" sz="12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Capture post-incident and post-change feedback from stakeholders</a:t>
            </a:r>
          </a:p>
          <a:p>
            <a:pPr marL="228600" indent="-228600">
              <a:lnSpc>
                <a:spcPct val="90000"/>
              </a:lnSpc>
              <a:buFont typeface="+mj-lt"/>
              <a:buAutoNum type="arabicPeriod"/>
            </a:pPr>
            <a:r>
              <a:rPr lang="en-US" sz="12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Translate feedback into actionable improvement initiatives</a:t>
            </a:r>
          </a:p>
          <a:p>
            <a:pPr marL="228600" indent="-228600">
              <a:lnSpc>
                <a:spcPct val="90000"/>
              </a:lnSpc>
              <a:buFont typeface="+mj-lt"/>
              <a:buAutoNum type="arabicPeriod"/>
            </a:pPr>
            <a:r>
              <a:rPr lang="en-US" sz="12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Track and improve customer satisfaction and service experience metrics</a:t>
            </a:r>
          </a:p>
          <a:p>
            <a:pPr marL="228600" indent="-228600">
              <a:lnSpc>
                <a:spcPct val="90000"/>
              </a:lnSpc>
              <a:buFont typeface="+mj-lt"/>
              <a:buAutoNum type="arabicPeriod"/>
            </a:pPr>
            <a:r>
              <a:rPr lang="en-US" sz="12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Ensure continuous alignment between IT Operations performance and business needs</a:t>
            </a:r>
            <a:endParaRPr lang="en-US" sz="1200" dirty="0">
              <a:solidFill>
                <a:prstClr val="black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82207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B8E643-08B4-D923-0518-6B0A7A10B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0D13211-066D-08D9-DD82-D0BF72F39D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-5705"/>
            <a:ext cx="9143993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F4570BD-3DFA-A85E-DD0D-E446EA6743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9143992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0E2A2AE-47DD-70FC-7E95-D5A9103046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638" y="2010758"/>
            <a:ext cx="34289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6667DEE2-2E89-DFBD-16E7-F868500C7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7638" y="637762"/>
            <a:ext cx="7416372" cy="900131"/>
          </a:xfrm>
        </p:spPr>
        <p:txBody>
          <a:bodyPr anchor="t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2700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Reporting &amp; Performance Analysis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7CC79DE-2126-8387-74DF-E4CE713FFC4D}"/>
              </a:ext>
            </a:extLst>
          </p:cNvPr>
          <p:cNvSpPr txBox="1"/>
          <p:nvPr/>
        </p:nvSpPr>
        <p:spPr>
          <a:xfrm>
            <a:off x="342766" y="1384036"/>
            <a:ext cx="3922646" cy="51693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lang="en-US" sz="1400" dirty="0">
              <a:solidFill>
                <a:prstClr val="black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4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Operational / Tactical Execution </a:t>
            </a:r>
          </a:p>
          <a:p>
            <a:pPr marL="0" marR="0" lvl="0" indent="0" algn="ctr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en-US" sz="11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indent="0" algn="ctr">
              <a:lnSpc>
                <a:spcPct val="90000"/>
              </a:lnSpc>
              <a:buNone/>
              <a:defRPr/>
            </a:pPr>
            <a:r>
              <a:rPr kumimoji="0" lang="en-US" sz="1200" i="0" u="sng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KPI Tracking &amp; Reporting</a:t>
            </a:r>
          </a:p>
          <a:p>
            <a:pPr marL="0" indent="0">
              <a:lnSpc>
                <a:spcPct val="90000"/>
              </a:lnSpc>
              <a:buNone/>
              <a:defRPr/>
            </a:pPr>
            <a:r>
              <a:rPr kumimoji="0" lang="en-US" sz="1200" b="0" i="0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Monitor uptime, MTTR, SLA adherence, incident volume, and change success rate</a:t>
            </a:r>
          </a:p>
          <a:p>
            <a:pPr marL="0" indent="0">
              <a:lnSpc>
                <a:spcPct val="90000"/>
              </a:lnSpc>
              <a:buNone/>
              <a:defRPr/>
            </a:pPr>
            <a:endParaRPr lang="en-US" sz="12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indent="0" algn="ctr">
              <a:lnSpc>
                <a:spcPct val="90000"/>
              </a:lnSpc>
              <a:buNone/>
              <a:defRPr/>
            </a:pPr>
            <a:r>
              <a:rPr kumimoji="0" lang="en-US" sz="1200" b="0" i="0" u="sng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Dashboard Management</a:t>
            </a:r>
          </a:p>
          <a:p>
            <a:pPr marL="0" indent="0">
              <a:lnSpc>
                <a:spcPct val="90000"/>
              </a:lnSpc>
              <a:buNone/>
              <a:defRPr/>
            </a:pPr>
            <a:r>
              <a:rPr kumimoji="0" lang="en-US" sz="1200" b="0" i="0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Maintain real-time dashboards for system health, incidents, and service performance</a:t>
            </a:r>
            <a:endParaRPr lang="en-US" sz="12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indent="0">
              <a:lnSpc>
                <a:spcPct val="90000"/>
              </a:lnSpc>
              <a:buNone/>
              <a:defRPr/>
            </a:pPr>
            <a:endParaRPr kumimoji="0" lang="en-US" sz="1200" b="0" i="0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indent="0" algn="ctr">
              <a:lnSpc>
                <a:spcPct val="90000"/>
              </a:lnSpc>
              <a:buNone/>
              <a:defRPr/>
            </a:pPr>
            <a:r>
              <a:rPr kumimoji="0" lang="en-US" sz="1200" b="0" i="0" u="sng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Incident &amp; Trend Analysis</a:t>
            </a:r>
            <a:endParaRPr lang="en-US" sz="1200" u="sng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indent="0">
              <a:lnSpc>
                <a:spcPct val="90000"/>
              </a:lnSpc>
              <a:buNone/>
              <a:defRPr/>
            </a:pPr>
            <a:r>
              <a:rPr kumimoji="0" lang="en-US" sz="1200" b="0" i="0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Track root causes, repeat incidents, and business impact metrics</a:t>
            </a:r>
          </a:p>
          <a:p>
            <a:pPr marL="0" indent="0">
              <a:lnSpc>
                <a:spcPct val="90000"/>
              </a:lnSpc>
              <a:buNone/>
              <a:defRPr/>
            </a:pPr>
            <a:endParaRPr lang="en-US" sz="12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indent="0" algn="ctr">
              <a:lnSpc>
                <a:spcPct val="90000"/>
              </a:lnSpc>
              <a:buNone/>
              <a:defRPr/>
            </a:pPr>
            <a:r>
              <a:rPr kumimoji="0" lang="en-US" sz="1200" b="0" i="0" u="sng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Executive Reporting Execution</a:t>
            </a:r>
          </a:p>
          <a:p>
            <a:pPr marL="0" indent="0">
              <a:lnSpc>
                <a:spcPct val="90000"/>
              </a:lnSpc>
              <a:buNone/>
              <a:defRPr/>
            </a:pPr>
            <a:r>
              <a:rPr kumimoji="0" lang="en-US" sz="1200" i="0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Deliver structured reports highlighting performance, risks, and improvement actions</a:t>
            </a:r>
            <a:endParaRPr lang="en-US" sz="12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indent="0">
              <a:lnSpc>
                <a:spcPct val="90000"/>
              </a:lnSpc>
              <a:buNone/>
              <a:defRPr/>
            </a:pPr>
            <a:endParaRPr kumimoji="0" lang="en-US" sz="1200" i="0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indent="0" algn="ctr">
              <a:lnSpc>
                <a:spcPct val="90000"/>
              </a:lnSpc>
              <a:buNone/>
              <a:defRPr/>
            </a:pPr>
            <a:r>
              <a:rPr kumimoji="0" lang="en-US" sz="1200" i="0" u="sng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Continuous Improvement Execution</a:t>
            </a:r>
            <a:endParaRPr lang="en-US" sz="1200" u="sng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indent="0">
              <a:lnSpc>
                <a:spcPct val="90000"/>
              </a:lnSpc>
              <a:buNone/>
              <a:defRPr/>
            </a:pPr>
            <a:r>
              <a:rPr kumimoji="0" lang="en-US" sz="1200" i="0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Use performance data to drive operational enhancements and maturity progression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9D12422-E65B-5201-1EAE-3E57202DF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4D97E5C-13CD-F4CE-9D33-9A2CD4CA29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177" y="2768161"/>
            <a:ext cx="9071640" cy="2653609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6F29374F-1E78-D79C-2538-F9DE0727A83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51491" y="-3428"/>
            <a:ext cx="1200150" cy="1190625"/>
          </a:xfrm>
          <a:prstGeom prst="rect">
            <a:avLst/>
          </a:prstGeom>
        </p:spPr>
      </p:pic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6E08CF19-B757-19D5-FDE3-E1849AE697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0" y="1688641"/>
            <a:ext cx="4571999" cy="5169359"/>
          </a:xfrm>
          <a:noFill/>
        </p:spPr>
        <p:txBody>
          <a:bodyPr anchor="ctr">
            <a:normAutofit fontScale="55000" lnSpcReduction="20000"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2200" u="sng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Strategic Alignment &amp; Forward-Looking Recommendations</a:t>
            </a:r>
          </a:p>
          <a:p>
            <a:pPr marL="0" indent="0" algn="ctr">
              <a:lnSpc>
                <a:spcPct val="90000"/>
              </a:lnSpc>
              <a:buNone/>
            </a:pPr>
            <a:endParaRPr lang="en-US" sz="1400" u="sng" dirty="0">
              <a:solidFill>
                <a:schemeClr val="tx1">
                  <a:alpha val="80000"/>
                </a:schemeClr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indent="0" algn="ctr">
              <a:lnSpc>
                <a:spcPct val="90000"/>
              </a:lnSpc>
              <a:buNone/>
            </a:pPr>
            <a:r>
              <a:rPr lang="en-US" sz="1400" b="1" u="sng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KPI Framework Aligned to Business Outcomes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Establish a structured performance framework linking IT Operations metrics to business impact.</a:t>
            </a:r>
          </a:p>
          <a:p>
            <a:pPr>
              <a:lnSpc>
                <a:spcPct val="90000"/>
              </a:lnSpc>
              <a:buFont typeface="+mj-lt"/>
              <a:buAutoNum type="arabicPeriod"/>
            </a:pPr>
            <a:r>
              <a:rPr lang="en-US" sz="14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Define KPI categories: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Service Reliability (uptime, degradation, MTTD, MTTA, MTTR)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Operational Efficiency (incident volume, automation rate, resolution time)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Change Performance (change success rate, change-related incidents)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Customer Experience (SLA adherence, satisfaction metrics)</a:t>
            </a:r>
          </a:p>
          <a:p>
            <a:pPr>
              <a:lnSpc>
                <a:spcPct val="90000"/>
              </a:lnSpc>
              <a:buFont typeface="+mj-lt"/>
              <a:buAutoNum type="arabicPeriod"/>
            </a:pPr>
            <a:r>
              <a:rPr lang="en-US" sz="14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Align all metrics to business impact (productivity, production, revenue, customer experience, etc.)</a:t>
            </a:r>
          </a:p>
          <a:p>
            <a:pPr>
              <a:lnSpc>
                <a:spcPct val="90000"/>
              </a:lnSpc>
              <a:buFont typeface="+mj-lt"/>
              <a:buAutoNum type="arabicPeriod"/>
            </a:pPr>
            <a:r>
              <a:rPr lang="en-US" sz="14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Establish clear targets and stretch goals for continuous improvement</a:t>
            </a:r>
          </a:p>
          <a:p>
            <a:pPr marL="0" indent="0" algn="ctr">
              <a:lnSpc>
                <a:spcPct val="90000"/>
              </a:lnSpc>
              <a:buNone/>
            </a:pPr>
            <a:endParaRPr lang="en-US" sz="1400" u="sng" dirty="0">
              <a:solidFill>
                <a:schemeClr val="tx1">
                  <a:alpha val="80000"/>
                </a:schemeClr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indent="0" algn="ctr">
              <a:lnSpc>
                <a:spcPct val="90000"/>
              </a:lnSpc>
              <a:buNone/>
            </a:pPr>
            <a:r>
              <a:rPr lang="en-US" sz="1400" b="1" u="sng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Real-Time Observability &amp; Performance Visibility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4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Provide real-time insight into system health and operational performance.</a:t>
            </a:r>
          </a:p>
          <a:p>
            <a:pPr>
              <a:lnSpc>
                <a:spcPct val="90000"/>
              </a:lnSpc>
              <a:buFont typeface="+mj-lt"/>
              <a:buAutoNum type="arabicPeriod"/>
            </a:pPr>
            <a:r>
              <a:rPr lang="en-US" sz="14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Implement centralized dashboards for infrastructure, applications, and services</a:t>
            </a:r>
          </a:p>
          <a:p>
            <a:pPr>
              <a:lnSpc>
                <a:spcPct val="90000"/>
              </a:lnSpc>
              <a:buFont typeface="+mj-lt"/>
              <a:buAutoNum type="arabicPeriod"/>
            </a:pPr>
            <a:r>
              <a:rPr lang="en-US" sz="14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Enable real-time monitoring of incidents, alerts, and system performance</a:t>
            </a:r>
          </a:p>
          <a:p>
            <a:pPr>
              <a:lnSpc>
                <a:spcPct val="90000"/>
              </a:lnSpc>
              <a:buFont typeface="+mj-lt"/>
              <a:buAutoNum type="arabicPeriod"/>
            </a:pPr>
            <a:r>
              <a:rPr lang="en-US" sz="14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Improve visibility into service dependencies and system interactions</a:t>
            </a:r>
          </a:p>
          <a:p>
            <a:pPr>
              <a:lnSpc>
                <a:spcPct val="90000"/>
              </a:lnSpc>
              <a:buFont typeface="+mj-lt"/>
              <a:buAutoNum type="arabicPeriod"/>
            </a:pPr>
            <a:r>
              <a:rPr lang="en-US" sz="14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Ensure leadership has access to clear, actionable operational insights</a:t>
            </a:r>
          </a:p>
          <a:p>
            <a:pPr>
              <a:lnSpc>
                <a:spcPct val="90000"/>
              </a:lnSpc>
              <a:buFont typeface="+mj-lt"/>
              <a:buAutoNum type="arabicPeriod"/>
            </a:pPr>
            <a:endParaRPr lang="en-US" sz="1400" dirty="0">
              <a:solidFill>
                <a:schemeClr val="tx1">
                  <a:alpha val="80000"/>
                </a:schemeClr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indent="0" algn="ctr">
              <a:lnSpc>
                <a:spcPct val="90000"/>
              </a:lnSpc>
              <a:buNone/>
            </a:pPr>
            <a:r>
              <a:rPr lang="en-US" sz="1400" b="1" u="sng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Incident &amp; Problem Analytics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4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Leverage data to drive continuous improvement and reduce operational risk.</a:t>
            </a:r>
          </a:p>
          <a:p>
            <a:pPr>
              <a:lnSpc>
                <a:spcPct val="90000"/>
              </a:lnSpc>
              <a:buFont typeface="+mj-lt"/>
              <a:buAutoNum type="arabicPeriod"/>
            </a:pPr>
            <a:r>
              <a:rPr lang="en-US" sz="14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Analyze incident trends, root causes, and repeat incidents</a:t>
            </a:r>
          </a:p>
          <a:p>
            <a:pPr>
              <a:lnSpc>
                <a:spcPct val="90000"/>
              </a:lnSpc>
              <a:buFont typeface="+mj-lt"/>
              <a:buAutoNum type="arabicPeriod"/>
            </a:pPr>
            <a:r>
              <a:rPr lang="en-US" sz="14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Track and improve MTTA, MTTR, and incident resolution effectiveness</a:t>
            </a:r>
          </a:p>
          <a:p>
            <a:pPr>
              <a:lnSpc>
                <a:spcPct val="90000"/>
              </a:lnSpc>
              <a:buFont typeface="+mj-lt"/>
              <a:buAutoNum type="arabicPeriod"/>
            </a:pPr>
            <a:r>
              <a:rPr lang="en-US" sz="14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Identify systemic issues and drive Problem Management initiatives</a:t>
            </a:r>
          </a:p>
          <a:p>
            <a:pPr>
              <a:lnSpc>
                <a:spcPct val="90000"/>
              </a:lnSpc>
              <a:buFont typeface="+mj-lt"/>
              <a:buAutoNum type="arabicPeriod"/>
            </a:pPr>
            <a:r>
              <a:rPr lang="en-US" sz="14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Measure and reduce business impact of incidents over time</a:t>
            </a:r>
          </a:p>
          <a:p>
            <a:pPr>
              <a:lnSpc>
                <a:spcPct val="90000"/>
              </a:lnSpc>
              <a:buFont typeface="+mj-lt"/>
              <a:buAutoNum type="arabicPeriod"/>
            </a:pPr>
            <a:endParaRPr lang="en-US" sz="1400" dirty="0">
              <a:solidFill>
                <a:schemeClr val="tx1">
                  <a:alpha val="80000"/>
                </a:schemeClr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indent="0" algn="ctr">
              <a:lnSpc>
                <a:spcPct val="90000"/>
              </a:lnSpc>
              <a:buNone/>
            </a:pPr>
            <a:r>
              <a:rPr lang="en-US" sz="1400" b="1" u="sng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Executive Reporting &amp; Decision Support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4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Deliver structured reporting to support leadership visibility and decision-making.</a:t>
            </a:r>
          </a:p>
          <a:p>
            <a:pPr>
              <a:lnSpc>
                <a:spcPct val="90000"/>
              </a:lnSpc>
              <a:buFont typeface="+mj-lt"/>
              <a:buAutoNum type="arabicPeriod"/>
            </a:pPr>
            <a:r>
              <a:rPr lang="en-US" sz="14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Provide monthly and quarterly operational health reports</a:t>
            </a:r>
          </a:p>
          <a:p>
            <a:pPr>
              <a:lnSpc>
                <a:spcPct val="90000"/>
              </a:lnSpc>
              <a:buFont typeface="+mj-lt"/>
              <a:buAutoNum type="arabicPeriod"/>
            </a:pPr>
            <a:r>
              <a:rPr lang="en-US" sz="14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Translate technical metrics into business impact insights</a:t>
            </a:r>
          </a:p>
          <a:p>
            <a:pPr>
              <a:lnSpc>
                <a:spcPct val="90000"/>
              </a:lnSpc>
              <a:buFont typeface="+mj-lt"/>
              <a:buAutoNum type="arabicPeriod"/>
            </a:pPr>
            <a:r>
              <a:rPr lang="en-US" sz="14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Highlight risks, trends, and improvement opportunities</a:t>
            </a:r>
          </a:p>
          <a:p>
            <a:pPr>
              <a:lnSpc>
                <a:spcPct val="90000"/>
              </a:lnSpc>
              <a:buFont typeface="+mj-lt"/>
              <a:buAutoNum type="arabicPeriod"/>
            </a:pPr>
            <a:r>
              <a:rPr lang="en-US" sz="14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Enable leadership to make data-driven investment and prioritization decisions</a:t>
            </a:r>
          </a:p>
          <a:p>
            <a:pPr>
              <a:lnSpc>
                <a:spcPct val="90000"/>
              </a:lnSpc>
              <a:buFont typeface="+mj-lt"/>
              <a:buAutoNum type="arabicPeriod"/>
            </a:pPr>
            <a:endParaRPr lang="en-US" sz="1400" dirty="0">
              <a:solidFill>
                <a:schemeClr val="tx1">
                  <a:alpha val="80000"/>
                </a:schemeClr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indent="0" algn="ctr">
              <a:lnSpc>
                <a:spcPct val="90000"/>
              </a:lnSpc>
              <a:buNone/>
            </a:pPr>
            <a:r>
              <a:rPr lang="en-US" sz="1400" b="1" u="sng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Reliability Maturity &amp; Continuous Improvement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4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Establish a maturity model to measure and advance IT Operations capabilities.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4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Define reliability maturity levels (Reactive, Managed, Proactive, Optimized)</a:t>
            </a:r>
          </a:p>
          <a:p>
            <a:pPr>
              <a:lnSpc>
                <a:spcPct val="90000"/>
              </a:lnSpc>
              <a:buFont typeface="+mj-lt"/>
              <a:buAutoNum type="arabicPeriod"/>
            </a:pPr>
            <a:r>
              <a:rPr lang="en-US" sz="14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Assess systems and services against maturity criteria</a:t>
            </a:r>
          </a:p>
          <a:p>
            <a:pPr>
              <a:lnSpc>
                <a:spcPct val="90000"/>
              </a:lnSpc>
              <a:buFont typeface="+mj-lt"/>
              <a:buAutoNum type="arabicPeriod"/>
            </a:pPr>
            <a:r>
              <a:rPr lang="en-US" sz="14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Track progress toward target maturity levels (e.g., 80%+ in Optimized state)</a:t>
            </a:r>
          </a:p>
          <a:p>
            <a:pPr>
              <a:lnSpc>
                <a:spcPct val="90000"/>
              </a:lnSpc>
              <a:buFont typeface="+mj-lt"/>
              <a:buAutoNum type="arabicPeriod"/>
            </a:pPr>
            <a:r>
              <a:rPr lang="en-US" sz="14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Align improvement initiatives to measurable maturity gains and performance outcomes</a:t>
            </a:r>
          </a:p>
        </p:txBody>
      </p:sp>
    </p:spTree>
    <p:extLst>
      <p:ext uri="{BB962C8B-B14F-4D97-AF65-F5344CB8AC3E}">
        <p14:creationId xmlns:p14="http://schemas.microsoft.com/office/powerpoint/2010/main" val="25396943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B6E6A0-F93D-6C23-9837-04F8DE6AF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A1701623-4629-E941-6AAA-B70273411F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-5705"/>
            <a:ext cx="9143993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BD9789-23EE-34E3-8671-F1093D12D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7638" y="637762"/>
            <a:ext cx="7416372" cy="900131"/>
          </a:xfrm>
        </p:spPr>
        <p:txBody>
          <a:bodyPr anchor="t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2700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Thank You 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B86F132-5E5B-E445-63C7-640B70D0D9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9143992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18C5832-A876-7A33-5D77-3E50FA7782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638" y="2010758"/>
            <a:ext cx="34289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5E4335-A1EA-4271-EEC7-0578F2551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4BF616-3F1C-D0A6-6368-237AE1B62D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177" y="2768161"/>
            <a:ext cx="9071640" cy="2653609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2A1B493C-8A03-15D9-639B-4D0E4582A5C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51491" y="-3428"/>
            <a:ext cx="1200150" cy="119062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797DAA8-A424-39E6-7E14-ADC1AB12AEF0}"/>
              </a:ext>
            </a:extLst>
          </p:cNvPr>
          <p:cNvSpPr txBox="1"/>
          <p:nvPr/>
        </p:nvSpPr>
        <p:spPr>
          <a:xfrm>
            <a:off x="1210530" y="2053346"/>
            <a:ext cx="6740961" cy="4062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u="sng" dirty="0"/>
              <a:t>Execution-Focused IT Operations Leadership</a:t>
            </a:r>
          </a:p>
          <a:p>
            <a:endParaRPr lang="en-US" dirty="0"/>
          </a:p>
          <a:p>
            <a:r>
              <a:rPr lang="en-US" sz="1200" u="sng" dirty="0"/>
              <a:t>Delivering Reliable, Scalable, and Business-Aligned IT Operations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Proven ability to build and lead high-performing IT Operations organizations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Expertise in ITIL-based service management, incident command, and operational excellence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Track record of improving service reliability, reducing downtime, and enabling business performance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Strong leadership in vendor governance, infrastructure operations, and enterprise service delivery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/>
          </a:p>
          <a:p>
            <a:r>
              <a:rPr lang="en-US" sz="1200" u="sng" dirty="0"/>
              <a:t>My Commitment to Scout Motors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Establish a high-reliability IT Operations model aligned to business growth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Deliver measurable improvements in uptime, MTTR, and service performance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Build a scalable, accountable, and high-performing operations team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Enable IT Operations to function as a strategic driver of business success</a:t>
            </a:r>
          </a:p>
          <a:p>
            <a:endParaRPr lang="en-US" sz="1200" dirty="0"/>
          </a:p>
          <a:p>
            <a:r>
              <a:rPr lang="en-US" sz="1200" dirty="0"/>
              <a:t>IT Operations is the foundation of business execution.</a:t>
            </a:r>
          </a:p>
          <a:p>
            <a:r>
              <a:rPr lang="en-US" sz="1200" dirty="0"/>
              <a:t>My focus is to ensure Scout Motors operates with speed, reliability, and confidence at scale.</a:t>
            </a:r>
          </a:p>
          <a:p>
            <a:endParaRPr lang="en-US" dirty="0"/>
          </a:p>
          <a:p>
            <a:r>
              <a:rPr lang="en-US" sz="1200" dirty="0"/>
              <a:t>Thank You</a:t>
            </a:r>
          </a:p>
          <a:p>
            <a:r>
              <a:rPr lang="en-US" sz="1200" dirty="0"/>
              <a:t>Kyle C. Mueller</a:t>
            </a:r>
          </a:p>
          <a:p>
            <a:r>
              <a:rPr lang="en-US" sz="1200" dirty="0"/>
              <a:t>Senior Manager, IT Operations</a:t>
            </a:r>
          </a:p>
        </p:txBody>
      </p:sp>
    </p:spTree>
    <p:extLst>
      <p:ext uri="{BB962C8B-B14F-4D97-AF65-F5344CB8AC3E}">
        <p14:creationId xmlns:p14="http://schemas.microsoft.com/office/powerpoint/2010/main" val="3869351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9134</TotalTime>
  <Words>3758</Words>
  <Application>Microsoft Office PowerPoint</Application>
  <PresentationFormat>On-screen Show (4:3)</PresentationFormat>
  <Paragraphs>520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Arial</vt:lpstr>
      <vt:lpstr>Calibri</vt:lpstr>
      <vt:lpstr>fkGroteskNeue</vt:lpstr>
      <vt:lpstr>Sans Serif Collection</vt:lpstr>
      <vt:lpstr>Office Theme</vt:lpstr>
      <vt:lpstr>Executive Summary: Strategic Alignment to Business Goals</vt:lpstr>
      <vt:lpstr>Business Objectives Alignment / Core Pillars of Excellence</vt:lpstr>
      <vt:lpstr>Transformation </vt:lpstr>
      <vt:lpstr>Execution Roadmap | First 90 Days</vt:lpstr>
      <vt:lpstr>IT Operations Operating Model &amp; Governance </vt:lpstr>
      <vt:lpstr>Incident and Problem Management</vt:lpstr>
      <vt:lpstr>Process Improvement &amp; Change Quality </vt:lpstr>
      <vt:lpstr>Automation &amp; Resilience Engineering </vt:lpstr>
      <vt:lpstr>Team Leadership &amp; Development</vt:lpstr>
      <vt:lpstr>Stakeholder Management</vt:lpstr>
      <vt:lpstr>Reporting &amp; Performance Analysis</vt:lpstr>
      <vt:lpstr>Thank You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Kyle Mueller</dc:creator>
  <cp:keywords/>
  <dc:description/>
  <cp:lastModifiedBy>Kyle Mueller</cp:lastModifiedBy>
  <cp:revision>82</cp:revision>
  <cp:lastPrinted>2026-04-28T13:08:07Z</cp:lastPrinted>
  <dcterms:created xsi:type="dcterms:W3CDTF">2013-01-27T09:14:16Z</dcterms:created>
  <dcterms:modified xsi:type="dcterms:W3CDTF">2026-04-29T15:47:50Z</dcterms:modified>
  <cp:category/>
</cp:coreProperties>
</file>