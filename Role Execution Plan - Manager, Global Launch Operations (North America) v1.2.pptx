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2" r:id="rId2"/>
    <p:sldId id="273" r:id="rId3"/>
    <p:sldId id="274" r:id="rId4"/>
    <p:sldId id="275" r:id="rId5"/>
    <p:sldId id="276" r:id="rId6"/>
    <p:sldId id="278" r:id="rId7"/>
    <p:sldId id="277" r:id="rId8"/>
    <p:sldId id="267" r:id="rId9"/>
  </p:sldIdLst>
  <p:sldSz cx="9144000" cy="6858000" type="screen4x3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861" autoAdjust="0"/>
  </p:normalViewPr>
  <p:slideViewPr>
    <p:cSldViewPr snapToGrid="0" snapToObjects="1">
      <p:cViewPr varScale="1">
        <p:scale>
          <a:sx n="89" d="100"/>
          <a:sy n="89" d="100"/>
        </p:scale>
        <p:origin x="1443" y="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BB6334-0627-46D3-00DF-055112AA36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A895A-91BD-F24D-2E4E-707B91B534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03948-AA1C-4765-A5BA-7E64F304F3F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FD8BA-B4A8-4B1A-739D-90073B879B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134EF-EA75-DB47-3DDA-C518AB9824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55106-DC81-4200-AF4B-C5B78BCB0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972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C642659E-EE92-4651-AA41-CDB9F9E5F74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8275" y="1173163"/>
            <a:ext cx="4225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600E7104-C665-418B-BECD-5F6BB8C7A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330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C5E72-1EAA-0930-691C-E6F6BB670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E7CFE-6A5D-3037-7307-56BE48BBF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CD9FE-0640-223E-CEA2-3076F111B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0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1E3D6-6F14-5B41-A629-E3F183A2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10952-E532-B5D4-2DD5-39A0CB998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6BD41-8B5D-B87C-3A7B-4DD6DD5AB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56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CA1BF-FD7D-0FCF-EBB9-CDFF22BE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48EC6-81B1-4283-7D2F-95ED9FDE6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C8ED7-65C2-F4BA-73C0-AAF40346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50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C8B1D-B8CF-9906-FCFC-F46B26B8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C9D25-E3C4-996B-DCD0-42842146F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20F79-06EE-E387-260F-5A73B798E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009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1A8F4-6A27-4500-E8CC-204D7B60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EFF05-8632-FA5F-E522-B1EFB5B07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CB12B-CD0B-DFA2-EEAA-87878E2EC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702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64941-903B-6F03-E94E-AFABC162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9D312-0E54-E2C5-1F1F-5F52A9ADA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F6324-0933-9BC4-D356-7907B297F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52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0D8D4-0659-1E0B-6777-5F96836D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82AD3-2661-134A-ED3B-A77FE5213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17CBE-5D32-2D5C-89D8-053DB5D81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762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F018D-719C-4596-B324-AEA4D0CC752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57CA-A1EB-4E52-83A2-042AE293F66E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A5D-F704-4730-A958-80862EFA23C5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4AD-FA8B-403F-B11F-CB821DCF2366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C295-3330-4894-9239-D3247D7C0C0D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18B9-79BA-4540-A194-06620BECCE06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98C9-6B04-43A5-9D0E-EA194368A4CE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F8A9D-F393-41A8-BB4C-1352AAAE6C55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4A41-F480-4C00-959F-557DF9B1E39C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8A75-A2BD-4BFD-BBF3-B74750D63075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2021-71F5-43AE-B5D4-69C7F0D5E997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32B79-B127-48A5-9E0D-685C2BA2303F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2D8A4-2832-B411-E595-6ADC00E2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1D7409-6514-ED9E-1480-0B118DD1F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EF44DF-03F4-FFD5-8D1E-5EE279A68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5DE354-D77E-007F-C5E3-C091ADFEE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3B02E3B0-111D-41A4-AE3F-5463769CC198}"/>
              </a:ext>
            </a:extLst>
          </p:cNvPr>
          <p:cNvPicPr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24778" y="2378592"/>
            <a:ext cx="9168770" cy="411659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BBE945B6-6C8D-9D85-1473-DE3CB4271197}"/>
              </a:ext>
            </a:extLst>
          </p:cNvPr>
          <p:cNvPicPr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5790720" y="-1226404"/>
            <a:ext cx="3848100" cy="30099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BAB8ED-14D9-9E6A-A652-5C74F6351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D967B31-B8C3-BA3B-67F0-027A140E5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781" y="1758569"/>
            <a:ext cx="3578706" cy="5169358"/>
          </a:xfrm>
        </p:spPr>
        <p:txBody>
          <a:bodyPr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0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Launch Operations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20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Lead a disciplined, scalable launch system that ensures: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Safe, on-time, within-budget program execution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World-class quality at SORP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Rapid, Controlled, acceleration volume ramp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‘One Team’ mentality to performance areas:  Safety, People, Environment, Quality, Delivery, and Cost – (SPEQDC)  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20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20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Alignment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"doing the right things with the right people for the right reasons” to achieve waste reduction and efficiency through Lean Manufacturing. 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LMS (Lucid Manufacturing System)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LPS (Lucid Production System)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Roadmap and Strategic initiatives 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Product and Launch Roadmap (Atlas, Midsize, AMP2, midcycle enhancements, </a:t>
            </a:r>
            <a:r>
              <a:rPr lang="en-US" sz="14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derivatives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Focus on vertical and contiguous integration (Powertrain, Stamping)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Culture at Lucid: Lucid Core Values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Rationalize KPIs: develop metrics with stretch goals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Benchmark against industry data + show trend dashboards. 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7F4058-D873-B65C-1CA7-1ACA2056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0" y="659839"/>
            <a:ext cx="8276362" cy="900131"/>
          </a:xfrm>
        </p:spPr>
        <p:txBody>
          <a:bodyPr anchor="t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Role Execution Plan - Manager, Global Launch Operations (North America) </a:t>
            </a:r>
            <a:b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US" sz="27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AE6781-1DFF-3504-9114-E06A5CEFE6BB}"/>
              </a:ext>
            </a:extLst>
          </p:cNvPr>
          <p:cNvSpPr txBox="1">
            <a:spLocks/>
          </p:cNvSpPr>
          <p:nvPr/>
        </p:nvSpPr>
        <p:spPr>
          <a:xfrm>
            <a:off x="457200" y="1905390"/>
            <a:ext cx="4148019" cy="5169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2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Intent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6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Engineering Launch Excellence as a Scalable Operating System </a:t>
            </a:r>
            <a:r>
              <a:rPr lang="en-US" sz="16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endParaRPr lang="en-US" sz="16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Font typeface="Arial"/>
              <a:buNone/>
            </a:pPr>
            <a:endParaRPr lang="en-US" sz="16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16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Launch Excellence Framework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Launch is not an event. It is a controlled system. Launch Excellence Is an Integrated Operating Model. This plan’s approach provides structure to continue Lucid’s excellent launch execution journey, utilizing measurable pillars: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Structured Launch Governance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Readiness &amp; Build Discipline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Complexity &amp; Risk Management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Digital &amp; Software-Integrated Launch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Team Leadership &amp; Development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Global Scalability &amp; Continuous Improvement. </a:t>
            </a:r>
          </a:p>
          <a:p>
            <a:pPr marL="0" indent="0">
              <a:lnSpc>
                <a:spcPct val="90000"/>
              </a:lnSpc>
              <a:buFont typeface="Arial"/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489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0CBD7-F5BA-6272-C760-BDD5D388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033C6B-A82D-0755-17F6-482559B1D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E3C088-0EE5-02E5-2EFE-DE156F26A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341E09-A9FC-6A9C-0F5D-E7E48B79E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F90836E-B177-53CF-C81E-8DBDBACD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Structured Launch Governance</a:t>
            </a:r>
          </a:p>
        </p:txBody>
      </p:sp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B6FEDFAF-94CB-4046-C61C-5E0F69EFE169}"/>
              </a:ext>
            </a:extLst>
          </p:cNvPr>
          <p:cNvPicPr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24778" y="2378592"/>
            <a:ext cx="9168770" cy="411659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E0BC1187-3719-B66D-05F4-EBA07AB92DE7}"/>
              </a:ext>
            </a:extLst>
          </p:cNvPr>
          <p:cNvPicPr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5790720" y="-1226404"/>
            <a:ext cx="3848100" cy="30099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01AE7C-E624-3D94-8FF4-6F22AC301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785" y="1688641"/>
            <a:ext cx="3578706" cy="504563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/>
            </a:pPr>
            <a:endParaRPr lang="en-US" sz="14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4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4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Centralized Launch Dashboard (KPI’s)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Warranty glidepath (defects, failures, degradation)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Dimensional performance (precision and consistency)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APQP (Advanced Product Quality Planning) and PPAP (Production Part Approval Process) supplier certification. 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Run-at-rate certifications. (identify bottlenecks, validate tooling, and confirm production readiness) 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Direct run % (1</a:t>
            </a:r>
            <a:r>
              <a:rPr lang="en-US" sz="1200" baseline="30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</a:t>
            </a: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time quality, w/o rework or repair) 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Open P1/P2 aging 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Make it measurable. Make it repeatable.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E5193DC-6899-847C-1D77-AEB2435F9F93}"/>
              </a:ext>
            </a:extLst>
          </p:cNvPr>
          <p:cNvSpPr txBox="1"/>
          <p:nvPr/>
        </p:nvSpPr>
        <p:spPr>
          <a:xfrm>
            <a:off x="867638" y="1737406"/>
            <a:ext cx="3922646" cy="5120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1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fontAlgn="auto">
              <a:lnSpc>
                <a:spcPct val="90000"/>
              </a:lnSpc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4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fontAlgn="auto">
              <a:lnSpc>
                <a:spcPct val="90000"/>
              </a:lnSpc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4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Structured objective phase-gate architecture by build event: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</a:p>
          <a:p>
            <a:pPr>
              <a:lnSpc>
                <a:spcPct val="90000"/>
              </a:lnSpc>
              <a:defRPr/>
            </a:pPr>
            <a:r>
              <a:rPr lang="en-US" sz="14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Integration Builds</a:t>
            </a:r>
          </a:p>
          <a:p>
            <a:pPr>
              <a:lnSpc>
                <a:spcPct val="90000"/>
              </a:lnSpc>
              <a:defRPr/>
            </a:pPr>
            <a:r>
              <a:rPr lang="en-US" sz="14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PPV (Product &amp; Process Validation)</a:t>
            </a:r>
          </a:p>
          <a:p>
            <a:pPr>
              <a:lnSpc>
                <a:spcPct val="90000"/>
              </a:lnSpc>
              <a:defRPr/>
            </a:pPr>
            <a:r>
              <a:rPr lang="en-US" sz="14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Manufacturing Validation Builds (Non-Saleable and Saleable)</a:t>
            </a:r>
          </a:p>
          <a:p>
            <a:pPr>
              <a:lnSpc>
                <a:spcPct val="90000"/>
              </a:lnSpc>
              <a:defRPr/>
            </a:pPr>
            <a:r>
              <a:rPr lang="en-US" sz="14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Start Of Regular Production</a:t>
            </a:r>
          </a:p>
          <a:p>
            <a:pPr>
              <a:lnSpc>
                <a:spcPct val="90000"/>
              </a:lnSpc>
              <a:defRPr/>
            </a:pPr>
            <a:r>
              <a:rPr lang="en-US" sz="14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End of Acceleration.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Gate exit criteria (objective, measurable)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1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1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Present monthly and quarterly launch health reports to executive leadership. 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4C8042-68E7-47ED-D030-FA7DD2DC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22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9304F-39B2-1020-CD13-C3E5F1BC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128C86-529B-67ED-D353-74C435319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09360C-B8D0-A652-E4D9-F305EA5F8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55F24A-BDFD-4717-3BDC-0E1AEE66F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F574BFA-6124-A1B9-4296-801A119D3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Readiness &amp; Build Discipline</a:t>
            </a:r>
          </a:p>
        </p:txBody>
      </p:sp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5BAFD880-23E9-A400-2E44-0003568323A5}"/>
              </a:ext>
            </a:extLst>
          </p:cNvPr>
          <p:cNvPicPr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24778" y="2378592"/>
            <a:ext cx="9168770" cy="411659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AA9787A6-E0E4-6718-18B4-EE39CE7999FF}"/>
              </a:ext>
            </a:extLst>
          </p:cNvPr>
          <p:cNvPicPr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5790720" y="-1226404"/>
            <a:ext cx="3848100" cy="30099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48221ED-70BD-06BC-60E7-44E76BB6A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181361"/>
            <a:ext cx="4571992" cy="4676640"/>
          </a:xfrm>
        </p:spPr>
        <p:txBody>
          <a:bodyPr anchor="ctr">
            <a:normAutofit fontScale="925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Paint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Throughput and uptime: Conveyors, ovens, and booths are stable with the new body size, minimizing bottlenecks. 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Corrosion and protection: Pretreatment, e‑coat, and sealer coverage verified on the new body shape for warranty targets.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Appearance at takt: Color and gloss consistency, orange peel, dirt defects, oven bake profiles within launch limits at planned line rate across all colors. 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Product routing and tracking, resequencing, mixed bank, broadcast.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5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GA 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Station balance and sequence: Each station meets takt and ergonomic limits.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Error Proofing (torque and angle), and standardized work, training, in place for all launch‑critical jobs. 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Lineside material replenishment 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Fit (Gap mm), finish, and NVH: Door and liftgate alignment, water‑leak tests, squeak‑and‑rattle checks, and final inspection standards tailored. 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End of Line Test: ECU flashing, electrical systems, diagnostics, and software validation, etc.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C356286-3687-6459-03F6-83D85D517DAE}"/>
              </a:ext>
            </a:extLst>
          </p:cNvPr>
          <p:cNvSpPr txBox="1"/>
          <p:nvPr/>
        </p:nvSpPr>
        <p:spPr>
          <a:xfrm>
            <a:off x="37155" y="2416601"/>
            <a:ext cx="4572008" cy="51501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endParaRPr lang="en-US" sz="11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Stamping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Die and Panel validated at rate (PPAP complete, key dimensions in spec)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Scrap, rework, and unplanned downtime within agreed launch targets.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Stable press recipes locked (tonnage, lube, speed) for all new tools.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Material supply, racks, and delivery cadence confirmed for body shop takt.</a:t>
            </a:r>
          </a:p>
          <a:p>
            <a:pPr>
              <a:lnSpc>
                <a:spcPct val="90000"/>
              </a:lnSpc>
            </a:pPr>
            <a:endParaRPr lang="en-US" sz="13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Body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Body‑in‑white geometry in control (apertures, glass openings, hard points within tolerance across pilots and early builds).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Joining robustness: Rivet‑and‑bond processes (and any welds) proven for cycle time, robot path stability, adhesive cure, and durability.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Panel fit (flush and gap), hitting launch targets before paint.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124E0A-6C26-EB7D-63E8-9BBFAFA5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7FC61-75A1-E292-E954-1FAFDC45B970}"/>
              </a:ext>
            </a:extLst>
          </p:cNvPr>
          <p:cNvSpPr txBox="1"/>
          <p:nvPr/>
        </p:nvSpPr>
        <p:spPr>
          <a:xfrm>
            <a:off x="517425" y="1699147"/>
            <a:ext cx="8109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Shop Readiness Focus Areas: process stabilization and variation reduction </a:t>
            </a:r>
            <a:endParaRPr lang="en-US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17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30C9E-E2E6-9B67-BAAA-BCB7C781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0E5773-E49A-92CA-78BD-6BF5A093F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12783B-2722-902A-6059-522D0037F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74DCC1-C935-1221-F6E9-FB623D709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1E6C933-92AC-E574-CF09-5FDCE3BD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Complexity &amp; Risk Management</a:t>
            </a:r>
          </a:p>
        </p:txBody>
      </p:sp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6933A30C-B038-9D32-7C3A-D22798D4E39C}"/>
              </a:ext>
            </a:extLst>
          </p:cNvPr>
          <p:cNvPicPr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24778" y="2416244"/>
            <a:ext cx="9168770" cy="411659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3724C580-0A48-51BB-6750-2507B6C4F3B3}"/>
              </a:ext>
            </a:extLst>
          </p:cNvPr>
          <p:cNvPicPr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5790720" y="-1226404"/>
            <a:ext cx="3848100" cy="30099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5455420-E1EA-80C9-84F0-26C27883A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8" y="2010758"/>
            <a:ext cx="3642941" cy="4847242"/>
          </a:xfrm>
        </p:spPr>
        <p:txBody>
          <a:bodyPr anchor="ctr">
            <a:normAutofit fontScale="70000" lnSpcReduction="20000"/>
          </a:bodyPr>
          <a:lstStyle/>
          <a:p>
            <a:pPr marL="0" lvl="0" indent="0" algn="ctr">
              <a:lnSpc>
                <a:spcPct val="90000"/>
              </a:lnSpc>
              <a:buNone/>
              <a:defRPr/>
            </a:pPr>
            <a:r>
              <a:rPr lang="en-US" sz="22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Issue Resolution</a:t>
            </a:r>
            <a:r>
              <a:rPr lang="en-US" sz="2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that there is a structured, root cause analysis methodology used to systematically identify, isolate, and eliminate defects.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endParaRPr lang="en-US" sz="16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Such as The Seven-Step by verifying seven key, sequentially dependent factors: </a:t>
            </a:r>
          </a:p>
          <a:p>
            <a:pPr>
              <a:lnSpc>
                <a:spcPct val="120000"/>
              </a:lnSpc>
              <a:defRPr/>
            </a:pPr>
            <a:r>
              <a:rPr lang="en-US" sz="16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Process, Tooling, Parts, Quality, Process Changes, Product Changes, and Complex Problem Solving. 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endParaRPr lang="en-US" sz="16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that there are teams in place with all functions represented to address issues: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endParaRPr lang="en-US" sz="16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Plant Issue Teams (PITs), who, after identifying an issue, work through steps 1 through 4 (correct process, correct tool, correct part, quality). 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endParaRPr lang="en-US" sz="16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If the issue is not resolved in the first 4 steps, it is then escalated to the Issue Resolution Teams (IRT‘s).  The IRT‘s work diamonds 5 through 7 (process change, product change, and Complex Problem Solving) until issue resolution has been achieved.  </a:t>
            </a: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>
              <a:lnSpc>
                <a:spcPct val="90000"/>
              </a:lnSpc>
              <a:buFont typeface="+mj-lt"/>
              <a:buAutoNum type="arabicPeriod"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BD0FC17-9732-4829-DC58-351C7D94D636}"/>
              </a:ext>
            </a:extLst>
          </p:cNvPr>
          <p:cNvSpPr txBox="1"/>
          <p:nvPr/>
        </p:nvSpPr>
        <p:spPr>
          <a:xfrm>
            <a:off x="867630" y="1552116"/>
            <a:ext cx="3922646" cy="5169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Operational/Tactical View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1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Proactive stakeholder engagement: Act as a liaison between launch and production teams and external/internal stakeholders. 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1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Control Entropy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 of FMEA (Severity × Occurrence × Detection = RPN), single point of failure analysis. 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2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RPN + BIA scoring model to prioritize risk remediation based on impact.</a:t>
            </a: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Communication Playbook: A framework to maintain clear communication across teams and stakeholders.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safety incident and near-miss escalation criteria to ensure that no ambiguity exists about who should be notified and when. 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buNone/>
              <a:defRPr/>
            </a:pPr>
            <a:r>
              <a:rPr lang="en-US" sz="14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Supplier Readiness Discipline: </a:t>
            </a:r>
          </a:p>
          <a:p>
            <a:pPr>
              <a:lnSpc>
                <a:spcPct val="90000"/>
              </a:lnSpc>
              <a:defRPr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Supplier Certification Checklist</a:t>
            </a:r>
          </a:p>
          <a:p>
            <a:pPr>
              <a:lnSpc>
                <a:spcPct val="90000"/>
              </a:lnSpc>
              <a:defRPr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Formal Run-at-Rate signoff</a:t>
            </a:r>
          </a:p>
          <a:p>
            <a:pPr>
              <a:lnSpc>
                <a:spcPct val="90000"/>
              </a:lnSpc>
              <a:defRPr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Tiered supplier risk monitoring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Launch risk is often supplier maturity risk.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6A5F34-9C38-23A6-F605-9FC42C7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8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C0FA4-1AA3-3F88-1631-C0FACB4E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0279B6-9F61-F167-1A39-722E3C35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030710-29ED-3A2A-4FFC-73FFC128B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54154-5A04-8DB0-EB38-ACE7472E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C623693-73A7-73B9-7294-23BBF8D1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Digital &amp; Software-Integrated Launch</a:t>
            </a:r>
          </a:p>
        </p:txBody>
      </p:sp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8AF94CDD-862D-4C18-004F-ADF4D5524AE8}"/>
              </a:ext>
            </a:extLst>
          </p:cNvPr>
          <p:cNvPicPr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24778" y="2378592"/>
            <a:ext cx="9168770" cy="411659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EA04206E-B0B4-4412-10FA-2794C2377D5D}"/>
              </a:ext>
            </a:extLst>
          </p:cNvPr>
          <p:cNvPicPr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5790720" y="-1226404"/>
            <a:ext cx="3848100" cy="30099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2063ABE-B920-F1BC-7A80-37FB1E2B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9" y="1715535"/>
            <a:ext cx="3578706" cy="5169360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IT Launch Alignment, Validate: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5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APM (Ignition, </a:t>
            </a:r>
            <a:r>
              <a:rPr lang="en-US" sz="1300" dirty="0" err="1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Sepasoft</a:t>
            </a: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OEE, Andon, Perspective Module, </a:t>
            </a:r>
            <a:r>
              <a:rPr lang="en-US" sz="1300" dirty="0" err="1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ApexChart</a:t>
            </a: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supporting production monitoring and control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Supervisor Tools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MES integration with ERP and In-Plant Order Management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MES and part traceability (barcode scanning capture) </a:t>
            </a:r>
            <a:endParaRPr lang="en-US" sz="13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PLC / OT standards and solutions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Network and Infrastructure standards and solutions (wired, wireless, cellular – supporting OTA)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IT / OT cyber and security solutions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Datacenter / Hosting: On-prem and Cloud-based solution configuration and capacity adjustments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Lineside material replenishment (pull and push calls)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Plant floor programmable device code backup: upload, download, compare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Error Proofing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Quality systems: visual inspection, optical, etc.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Preventative / Predictive Maintenance solutions 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Supply Chain and WMS readiness</a:t>
            </a: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End-of-Line test validation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C642819-E5E2-A584-F4B7-30D316CD7ACF}"/>
              </a:ext>
            </a:extLst>
          </p:cNvPr>
          <p:cNvSpPr txBox="1"/>
          <p:nvPr/>
        </p:nvSpPr>
        <p:spPr>
          <a:xfrm>
            <a:off x="867630" y="1887657"/>
            <a:ext cx="3922646" cy="5169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Application and Infrastructure Readiness: </a:t>
            </a:r>
          </a:p>
          <a:p>
            <a:pPr>
              <a:lnSpc>
                <a:spcPct val="90000"/>
              </a:lnSpc>
              <a:defRPr/>
            </a:pPr>
            <a:endParaRPr lang="en-US" sz="11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Install and Config complete by PPV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SAT complete by MVB non-saleable 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UAT complete by MVB salable 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Transition to operations by SORP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Warranty period through acceleration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Work with IT to define application criticality definitions: Vital, Critical, Important, and Deferable, and agree upon performance metrics for each classification. 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that all vital production environments have the following characteristics and procedures: 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High availability (HA) with auto failover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Provisioning and scaling on demand, 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Backup and restore (BUR), 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Disaster recovery, 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Business resumption plan</a:t>
            </a:r>
          </a:p>
          <a:p>
            <a:pPr>
              <a:lnSpc>
                <a:spcPct val="90000"/>
              </a:lnSpc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Manual operating procedures (MOPs) when possible.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27C9E-5FAD-34E3-FC40-E2DAFE99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42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8352B-DEA8-093A-CD7F-B7F56F0B2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A1BFBF-DFA2-D852-45B0-6E310B76E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95A551-CFFE-6398-0FA3-E8484B58E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778CC3-C4DE-A91B-39E1-047DEC587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C7C01F5-F994-BE6D-22E6-16745D877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Team Leadership &amp; Development</a:t>
            </a:r>
          </a:p>
        </p:txBody>
      </p:sp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CF7976D5-D0B2-929F-6BB0-CD15CEEC048F}"/>
              </a:ext>
            </a:extLst>
          </p:cNvPr>
          <p:cNvPicPr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2378592"/>
            <a:ext cx="9168770" cy="411659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0CC5A7C5-9B33-3C40-4AA4-E77105644A15}"/>
              </a:ext>
            </a:extLst>
          </p:cNvPr>
          <p:cNvPicPr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5790720" y="-1226404"/>
            <a:ext cx="3848100" cy="30099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DED969A-7069-1318-ACCD-8ED97316D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9" y="1688641"/>
            <a:ext cx="3578706" cy="5503653"/>
          </a:xfrm>
        </p:spPr>
        <p:txBody>
          <a:bodyPr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Human Ops &amp; Culture Design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2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Emphasizes flexibility, employee empowerment, and customer-centric focus.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Recognition and reward systems for: 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Process improvements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Bottleneck identification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Acting as One Team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Winning with Integrity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Demonstrating the Purpose, Strategy, and People philosophy 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Add burnout mitigation strategies (on-call load balancing, mental health cycles).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Vendor &amp; Third-Party Management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2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Vendor risk profiling/tiering, including details on their systems, contacts, T&amp;C’s, SLAs, and 4th-party dependencies. 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90EF828-F719-F88F-4846-FE3D0627E279}"/>
              </a:ext>
            </a:extLst>
          </p:cNvPr>
          <p:cNvSpPr txBox="1"/>
          <p:nvPr/>
        </p:nvSpPr>
        <p:spPr>
          <a:xfrm>
            <a:off x="867630" y="1688641"/>
            <a:ext cx="3922646" cy="4990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400" u="sng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400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</a:t>
            </a:r>
            <a:r>
              <a:rPr kumimoji="0" lang="en-US" sz="1400" b="0" i="0" u="sng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redibility</a:t>
            </a: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400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</a:t>
            </a:r>
            <a:r>
              <a:rPr kumimoji="0" lang="en-US" sz="1400" b="0" i="0" u="sng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hrough</a:t>
            </a: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400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</a:t>
            </a:r>
            <a:r>
              <a:rPr kumimoji="0" lang="en-US" sz="1400" b="0" i="0" u="sng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resence</a:t>
            </a:r>
            <a:endParaRPr kumimoji="0" lang="en-US" sz="1400" b="0" i="0" u="sng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Plant Floor Immersion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Conduct regular 1:1s with functional leads 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Attend / Lead issue resolution meetings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Observe build execution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Validate takt stability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Identify ergonomic risk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Enhance and manage the high-performing production support team.</a:t>
            </a: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resource planning with business growth, onboarding new technologies, and scaling teams as needed. </a:t>
            </a: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 mentorship and training: Provide cross-training and rotational opportunities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 individual core competencies and team depth.</a:t>
            </a: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Open door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coaching culture</a:t>
            </a: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with all team members and develop an individual development plan (IDP) with all direct reports.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131587-801B-6FBC-B59C-70889035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932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521D6-C985-F767-BF0E-240313A4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E87C01-1E02-EB8C-3DB1-860873718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EE89DB-2E5F-3018-77C9-D7389F50C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9200DF-359F-4BE5-54F2-D953D30F5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823DBAD-0175-1A77-791E-98BA36699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Global Scalability &amp; Continuous Improvement</a:t>
            </a:r>
          </a:p>
        </p:txBody>
      </p:sp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412F502B-7623-069C-5BB0-85A6A6F1B283}"/>
              </a:ext>
            </a:extLst>
          </p:cNvPr>
          <p:cNvPicPr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24778" y="2378592"/>
            <a:ext cx="9168770" cy="411659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EBA8DCA1-B76B-9785-3E8F-C55B015F6049}"/>
              </a:ext>
            </a:extLst>
          </p:cNvPr>
          <p:cNvPicPr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5790720" y="-1226404"/>
            <a:ext cx="3848100" cy="30099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1D5DCC4-9EAE-276A-6E98-C7421D101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2988" y="1688641"/>
            <a:ext cx="4061011" cy="5169360"/>
          </a:xfrm>
        </p:spPr>
        <p:txBody>
          <a:bodyPr anchor="t">
            <a:normAutofit fontScale="5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endParaRPr lang="en-US" sz="2500" u="sng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endParaRPr lang="en-US" sz="2500" u="sng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2500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Build the Lucid Global Launch Standard (LGLS)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objective is not simply to launch vehicles. It is to create a predictable, globally scalable launch operating system that: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Reduces risk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Shortens acceleration curves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Improves warranty performance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Enables multi-region expansion</a:t>
            </a:r>
          </a:p>
          <a:p>
            <a:pPr marL="342900" lvl="1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Institutionalizes launch excellence as a competitive advantage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lvl="1" indent="0">
              <a:lnSpc>
                <a:spcPct val="90000"/>
              </a:lnSpc>
              <a:buNone/>
              <a:defRPr/>
            </a:pPr>
            <a:endParaRPr lang="en-US" sz="1050" kern="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25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Institutionalize Lessons Learned Engine 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25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after the acceleration phase</a:t>
            </a:r>
            <a:r>
              <a:rPr lang="en-US" sz="18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Conduct structured retrospective and identify: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Warranty drivers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Supplier fatigue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Process bottlenecks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Containment dwell time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Direct run variability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Ramp constraints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 compressed acceleration scenario for next launch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Mandatory adoption checklist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Updated playbook 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2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launch lifecycle goal: Compress &amp; shift to the left</a:t>
            </a:r>
            <a:endParaRPr lang="en-US" sz="2200" b="1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</a:pPr>
            <a:endParaRPr lang="en-US" sz="20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ACF31EB-40CE-30A6-1FC0-81E21C3E765C}"/>
              </a:ext>
            </a:extLst>
          </p:cNvPr>
          <p:cNvSpPr txBox="1"/>
          <p:nvPr/>
        </p:nvSpPr>
        <p:spPr>
          <a:xfrm>
            <a:off x="867630" y="1688640"/>
            <a:ext cx="3922646" cy="5169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Lay the groundwork for 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Lucid Global Launch Standard (LGLS)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Task the team to perform </a:t>
            </a: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</a:t>
            </a: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non-disruptive assess</a:t>
            </a:r>
            <a:r>
              <a:rPr lang="en-US" sz="1100" dirty="0" err="1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ment</a:t>
            </a: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of the launch process at Lucid and identify elevation opportunities to build upon existing strengths. 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lvl="0" indent="0" algn="ctr">
              <a:lnSpc>
                <a:spcPct val="90000"/>
              </a:lnSpc>
              <a:buNone/>
              <a:defRPr/>
            </a:pPr>
            <a:r>
              <a:rPr lang="en-US" sz="14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Begin Drafting </a:t>
            </a:r>
          </a:p>
          <a:p>
            <a:pPr marL="0" lvl="0" indent="0" algn="ctr">
              <a:lnSpc>
                <a:spcPct val="90000"/>
              </a:lnSpc>
              <a:buNone/>
              <a:defRPr/>
            </a:pPr>
            <a:r>
              <a:rPr lang="en-US" sz="14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Lucid Global Launch Standard (LGLS)</a:t>
            </a:r>
          </a:p>
          <a:p>
            <a:pPr marL="0" lvl="0" indent="0">
              <a:lnSpc>
                <a:spcPct val="90000"/>
              </a:lnSpc>
              <a:buNone/>
              <a:defRPr/>
            </a:pP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lvl="0" indent="0">
              <a:lnSpc>
                <a:spcPct val="90000"/>
              </a:lnSpc>
              <a:buNone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Framework includes:</a:t>
            </a: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Formal Launch Playbook structured for refined launch complexity discipline.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Common launch scorecards across AMP-1 programs.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Scale (Multi-Program Execution Model)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Contiguous Powertrain and Stamping integration.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Phase Gate Definitions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Objective Criteria per Gate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KPI Definitions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Escalation Protocol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Lessons Learned Framework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Globalize (AMP-1 | Nikola | Saudi | Future Facilities)</a:t>
            </a:r>
            <a:endParaRPr lang="en-US" sz="11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1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2570FD-0BD8-5043-6AF5-90833298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83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6E6A0-F93D-6C23-9837-04F8DE6A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1701623-4629-E941-6AAA-B70273411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D9789-23EE-34E3-8671-F1093D12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Thank You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86F132-5E5B-E445-63C7-640B70D0D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8C5832-A876-7A33-5D77-3E50FA778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black and white logo&#10;&#10;AI-generated content may be incorrect.">
            <a:extLst>
              <a:ext uri="{FF2B5EF4-FFF2-40B4-BE49-F238E27FC236}">
                <a16:creationId xmlns:a16="http://schemas.microsoft.com/office/drawing/2014/main" id="{6BBCB9B3-CAE5-5B26-4B7D-1306474A2E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2378592"/>
            <a:ext cx="9168770" cy="411659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7" name="Picture 26" descr="A black and white logo&#10;&#10;AI-generated content may be incorrect.">
            <a:extLst>
              <a:ext uri="{FF2B5EF4-FFF2-40B4-BE49-F238E27FC236}">
                <a16:creationId xmlns:a16="http://schemas.microsoft.com/office/drawing/2014/main" id="{A3FBAF97-3663-67C0-BA87-20B3B4309F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790720" y="-1226404"/>
            <a:ext cx="3848100" cy="3009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5E4335-A1EA-4271-EEC7-0578F255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16159</TotalTime>
  <Words>1605</Words>
  <Application>Microsoft Office PowerPoint</Application>
  <PresentationFormat>On-screen Show (4:3)</PresentationFormat>
  <Paragraphs>253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Sans Serif Collection</vt:lpstr>
      <vt:lpstr>Office Theme</vt:lpstr>
      <vt:lpstr>Role Execution Plan - Manager, Global Launch Operations (North America)  </vt:lpstr>
      <vt:lpstr>Structured Launch Governance</vt:lpstr>
      <vt:lpstr>Operational Readiness &amp; Build Discipline</vt:lpstr>
      <vt:lpstr>Complexity &amp; Risk Management</vt:lpstr>
      <vt:lpstr>Digital &amp; Software-Integrated Launch</vt:lpstr>
      <vt:lpstr>Team Leadership &amp; Development</vt:lpstr>
      <vt:lpstr>Global Scalability &amp; Continuous Improvement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Kyle Mueller</dc:creator>
  <cp:keywords/>
  <dc:description>generated using python-pptx</dc:description>
  <cp:lastModifiedBy>Kyle Mueller</cp:lastModifiedBy>
  <cp:revision>139</cp:revision>
  <cp:lastPrinted>2026-03-06T19:25:49Z</cp:lastPrinted>
  <dcterms:created xsi:type="dcterms:W3CDTF">2013-01-27T09:14:16Z</dcterms:created>
  <dcterms:modified xsi:type="dcterms:W3CDTF">2026-03-06T21:29:34Z</dcterms:modified>
  <cp:category/>
</cp:coreProperties>
</file>